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9" r:id="rId4"/>
    <p:sldId id="259" r:id="rId5"/>
    <p:sldId id="260" r:id="rId6"/>
    <p:sldId id="261" r:id="rId7"/>
    <p:sldId id="262" r:id="rId8"/>
    <p:sldId id="263" r:id="rId9"/>
    <p:sldId id="264" r:id="rId10"/>
    <p:sldId id="265" r:id="rId11"/>
    <p:sldId id="281" r:id="rId12"/>
    <p:sldId id="294" r:id="rId13"/>
    <p:sldId id="295" r:id="rId14"/>
    <p:sldId id="296" r:id="rId15"/>
    <p:sldId id="285" r:id="rId16"/>
    <p:sldId id="291" r:id="rId17"/>
    <p:sldId id="292" r:id="rId18"/>
    <p:sldId id="293" r:id="rId19"/>
    <p:sldId id="297" r:id="rId20"/>
    <p:sldId id="298" r:id="rId21"/>
    <p:sldId id="299" r:id="rId22"/>
    <p:sldId id="300" r:id="rId23"/>
    <p:sldId id="276" r:id="rId24"/>
    <p:sldId id="277" r:id="rId25"/>
    <p:sldId id="278"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B9A2DA0C-2EAE-4774-BA88-408DD1CB0338}" type="datetimeFigureOut">
              <a:rPr lang="en-US" smtClean="0"/>
              <a:pPr/>
              <a:t>10/31/2023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B563D1A-4E03-4DB1-832F-5F6779B112D9}"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B9A2DA0C-2EAE-4774-BA88-408DD1CB0338}" type="datetimeFigureOut">
              <a:rPr lang="en-US" smtClean="0"/>
              <a:pPr/>
              <a:t>10/31/2023</a:t>
            </a:fld>
            <a:endParaRPr lang="en-US"/>
          </a:p>
        </p:txBody>
      </p:sp>
      <p:sp>
        <p:nvSpPr>
          <p:cNvPr id="9" name="Slide Number Placeholder 8"/>
          <p:cNvSpPr>
            <a:spLocks noGrp="1"/>
          </p:cNvSpPr>
          <p:nvPr>
            <p:ph type="sldNum" sz="quarter" idx="15"/>
          </p:nvPr>
        </p:nvSpPr>
        <p:spPr/>
        <p:txBody>
          <a:bodyPr rtlCol="0"/>
          <a:lstStyle/>
          <a:p>
            <a:fld id="{CB563D1A-4E03-4DB1-832F-5F6779B112D9}"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9A2DA0C-2EAE-4774-BA88-408DD1CB0338}" type="datetimeFigureOut">
              <a:rPr lang="en-US" smtClean="0"/>
              <a:pPr/>
              <a:t>10/31/2023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B563D1A-4E03-4DB1-832F-5F6779B112D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9A2DA0C-2EAE-4774-BA88-408DD1CB0338}" type="datetimeFigureOut">
              <a:rPr lang="en-US" smtClean="0"/>
              <a:pPr/>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563D1A-4E03-4DB1-832F-5F6779B112D9}"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B9A2DA0C-2EAE-4774-BA88-408DD1CB0338}" type="datetimeFigureOut">
              <a:rPr lang="en-US" smtClean="0"/>
              <a:pPr/>
              <a:t>10/31/2023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563D1A-4E03-4DB1-832F-5F6779B112D9}"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B9A2DA0C-2EAE-4774-BA88-408DD1CB0338}" type="datetimeFigureOut">
              <a:rPr lang="en-US" smtClean="0"/>
              <a:pPr/>
              <a:t>10/31/2023</a:t>
            </a:fld>
            <a:endParaRPr lang="en-US"/>
          </a:p>
        </p:txBody>
      </p:sp>
      <p:sp>
        <p:nvSpPr>
          <p:cNvPr id="7" name="Slide Number Placeholder 6"/>
          <p:cNvSpPr>
            <a:spLocks noGrp="1"/>
          </p:cNvSpPr>
          <p:nvPr>
            <p:ph type="sldNum" sz="quarter" idx="11"/>
          </p:nvPr>
        </p:nvSpPr>
        <p:spPr/>
        <p:txBody>
          <a:bodyPr rtlCol="0"/>
          <a:lstStyle/>
          <a:p>
            <a:fld id="{CB563D1A-4E03-4DB1-832F-5F6779B112D9}"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A2DA0C-2EAE-4774-BA88-408DD1CB0338}" type="datetimeFigureOut">
              <a:rPr lang="en-US" smtClean="0"/>
              <a:pPr/>
              <a:t>10/31/2023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563D1A-4E03-4DB1-832F-5F6779B112D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B9A2DA0C-2EAE-4774-BA88-408DD1CB0338}" type="datetimeFigureOut">
              <a:rPr lang="en-US" smtClean="0"/>
              <a:pPr/>
              <a:t>10/31/2023</a:t>
            </a:fld>
            <a:endParaRPr lang="en-US"/>
          </a:p>
        </p:txBody>
      </p:sp>
      <p:sp>
        <p:nvSpPr>
          <p:cNvPr id="22" name="Slide Number Placeholder 21"/>
          <p:cNvSpPr>
            <a:spLocks noGrp="1"/>
          </p:cNvSpPr>
          <p:nvPr>
            <p:ph type="sldNum" sz="quarter" idx="15"/>
          </p:nvPr>
        </p:nvSpPr>
        <p:spPr/>
        <p:txBody>
          <a:bodyPr rtlCol="0"/>
          <a:lstStyle/>
          <a:p>
            <a:fld id="{CB563D1A-4E03-4DB1-832F-5F6779B112D9}"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B9A2DA0C-2EAE-4774-BA88-408DD1CB0338}" type="datetimeFigureOut">
              <a:rPr lang="en-US" smtClean="0"/>
              <a:pPr/>
              <a:t>10/31/2023</a:t>
            </a:fld>
            <a:endParaRPr lang="en-US"/>
          </a:p>
        </p:txBody>
      </p:sp>
      <p:sp>
        <p:nvSpPr>
          <p:cNvPr id="18" name="Slide Number Placeholder 17"/>
          <p:cNvSpPr>
            <a:spLocks noGrp="1"/>
          </p:cNvSpPr>
          <p:nvPr>
            <p:ph type="sldNum" sz="quarter" idx="11"/>
          </p:nvPr>
        </p:nvSpPr>
        <p:spPr/>
        <p:txBody>
          <a:bodyPr rtlCol="0"/>
          <a:lstStyle/>
          <a:p>
            <a:fld id="{CB563D1A-4E03-4DB1-832F-5F6779B112D9}"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A2DA0C-2EAE-4774-BA88-408DD1CB0338}"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63D1A-4E03-4DB1-832F-5F6779B112D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A2DA0C-2EAE-4774-BA88-408DD1CB0338}"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63D1A-4E03-4DB1-832F-5F6779B112D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B9A2DA0C-2EAE-4774-BA88-408DD1CB0338}" type="datetimeFigureOut">
              <a:rPr lang="en-US" smtClean="0"/>
              <a:pPr/>
              <a:t>10/31/2023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B563D1A-4E03-4DB1-832F-5F6779B112D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cholar.google.com/scholar?as_q=Sidelobe+reduction+of+TM&amp;as_occt=title&amp;hl=en&amp;as_sdt=0,31"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1670" y="1571612"/>
            <a:ext cx="6500858" cy="1714512"/>
          </a:xfrm>
        </p:spPr>
        <p:txBody>
          <a:bodyPr/>
          <a:lstStyle/>
          <a:p>
            <a:r>
              <a:rPr lang="en-IN" dirty="0">
                <a:solidFill>
                  <a:schemeClr val="tx1">
                    <a:lumMod val="95000"/>
                    <a:lumOff val="5000"/>
                  </a:schemeClr>
                </a:solidFill>
                <a:latin typeface="Times New Roman" pitchFamily="18" charset="0"/>
                <a:cs typeface="Times New Roman" pitchFamily="18" charset="0"/>
              </a:rPr>
              <a:t>IMPROVING  THE  RETURN LOSS OF  THE ANTENNA  VIA  FRACTAL SLOT</a:t>
            </a:r>
            <a:endParaRPr lang="en-US" dirty="0">
              <a:solidFill>
                <a:schemeClr val="tx1">
                  <a:lumMod val="95000"/>
                  <a:lumOff val="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a:off x="2286000" y="5003322"/>
            <a:ext cx="6172200" cy="1354636"/>
          </a:xfrm>
        </p:spPr>
        <p:txBody>
          <a:bodyPr/>
          <a:lstStyle/>
          <a:p>
            <a:r>
              <a:rPr lang="en-IN" dirty="0">
                <a:solidFill>
                  <a:schemeClr val="tx1">
                    <a:lumMod val="95000"/>
                    <a:lumOff val="5000"/>
                  </a:schemeClr>
                </a:solidFill>
              </a:rPr>
              <a:t>                                        </a:t>
            </a:r>
            <a:r>
              <a:rPr lang="en-IN" dirty="0">
                <a:solidFill>
                  <a:schemeClr val="tx1">
                    <a:lumMod val="95000"/>
                    <a:lumOff val="5000"/>
                  </a:schemeClr>
                </a:solidFill>
                <a:latin typeface="Times New Roman" pitchFamily="18" charset="0"/>
                <a:cs typeface="Times New Roman" pitchFamily="18" charset="0"/>
              </a:rPr>
              <a:t>BY,</a:t>
            </a:r>
          </a:p>
          <a:p>
            <a:r>
              <a:rPr lang="en-IN" dirty="0">
                <a:solidFill>
                  <a:schemeClr val="tx1">
                    <a:lumMod val="95000"/>
                    <a:lumOff val="5000"/>
                  </a:schemeClr>
                </a:solidFill>
                <a:latin typeface="Times New Roman" pitchFamily="18" charset="0"/>
                <a:cs typeface="Times New Roman" pitchFamily="18" charset="0"/>
              </a:rPr>
              <a:t>                                             D.YUVARAJ  DHAYAL</a:t>
            </a:r>
          </a:p>
          <a:p>
            <a:r>
              <a:rPr lang="en-IN" dirty="0">
                <a:solidFill>
                  <a:schemeClr val="tx1">
                    <a:lumMod val="95000"/>
                    <a:lumOff val="5000"/>
                  </a:schemeClr>
                </a:solidFill>
                <a:latin typeface="Times New Roman" pitchFamily="18" charset="0"/>
                <a:cs typeface="Times New Roman" pitchFamily="18" charset="0"/>
              </a:rPr>
              <a:t>                                              S.KANTHARAJ</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r>
              <a:rPr lang="en-IN" sz="3200" b="1" dirty="0">
                <a:solidFill>
                  <a:schemeClr val="tx1">
                    <a:lumMod val="95000"/>
                    <a:lumOff val="5000"/>
                  </a:schemeClr>
                </a:solidFill>
                <a:latin typeface="Times New Roman" pitchFamily="18" charset="0"/>
                <a:cs typeface="Times New Roman" pitchFamily="18" charset="0"/>
              </a:rPr>
              <a:t>OBJECTIVE</a:t>
            </a:r>
            <a:endParaRPr lang="en-US" sz="3200" b="1" dirty="0">
              <a:solidFill>
                <a:schemeClr val="tx1">
                  <a:lumMod val="95000"/>
                  <a:lumOff val="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714348" y="1714488"/>
            <a:ext cx="7643866" cy="3500462"/>
          </a:xfrm>
        </p:spPr>
        <p:txBody>
          <a:bodyPr>
            <a:noAutofit/>
          </a:bodyPr>
          <a:lstStyle/>
          <a:p>
            <a:r>
              <a:rPr lang="en-IN" sz="2800" dirty="0">
                <a:latin typeface="Times New Roman" pitchFamily="18" charset="0"/>
                <a:cs typeface="Times New Roman" pitchFamily="18" charset="0"/>
              </a:rPr>
              <a:t>To design a fractal H shaped notch loaded patch antenna for satellite communication applications with operating frequency of 3.09 GHz on the Arlon Cu </a:t>
            </a:r>
            <a:r>
              <a:rPr lang="en-IN" sz="2800" dirty="0" smtClean="0">
                <a:latin typeface="Times New Roman" pitchFamily="18" charset="0"/>
                <a:cs typeface="Times New Roman" pitchFamily="18" charset="0"/>
              </a:rPr>
              <a:t>Clad  </a:t>
            </a:r>
            <a:r>
              <a:rPr lang="en-IN" sz="2800" dirty="0">
                <a:latin typeface="Times New Roman" pitchFamily="18" charset="0"/>
                <a:cs typeface="Times New Roman" pitchFamily="18" charset="0"/>
              </a:rPr>
              <a:t>217 substrate with the dielectric constant of  2.2.</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42976" y="2643182"/>
            <a:ext cx="6000792" cy="1714512"/>
          </a:xfrm>
        </p:spPr>
        <p:txBody>
          <a:bodyPr>
            <a:normAutofit/>
          </a:bodyPr>
          <a:lstStyle/>
          <a:p>
            <a:pPr algn="ctr">
              <a:buNone/>
            </a:pPr>
            <a:r>
              <a:rPr lang="en-IN" sz="4000" b="1" dirty="0">
                <a:latin typeface="Times New Roman" pitchFamily="18" charset="0"/>
                <a:cs typeface="Times New Roman" pitchFamily="18" charset="0"/>
              </a:rPr>
              <a:t>LITERATURE SURVEY</a:t>
            </a:r>
            <a:endParaRPr lang="en-US" sz="4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 xmlns:p14="http://schemas.microsoft.com/office/powerpoint/2010/main" val="2633404289"/>
              </p:ext>
            </p:extLst>
          </p:nvPr>
        </p:nvGraphicFramePr>
        <p:xfrm>
          <a:off x="857224" y="571481"/>
          <a:ext cx="7000924" cy="5463887"/>
        </p:xfrm>
        <a:graphic>
          <a:graphicData uri="http://schemas.openxmlformats.org/drawingml/2006/table">
            <a:tbl>
              <a:tblPr firstRow="1" bandRow="1">
                <a:tableStyleId>{5C22544A-7EE6-4342-B048-85BDC9FD1C3A}</a:tableStyleId>
              </a:tblPr>
              <a:tblGrid>
                <a:gridCol w="1604379">
                  <a:extLst>
                    <a:ext uri="{9D8B030D-6E8A-4147-A177-3AD203B41FA5}">
                      <a16:colId xmlns:a16="http://schemas.microsoft.com/office/drawing/2014/main" xmlns="" val="20000"/>
                    </a:ext>
                  </a:extLst>
                </a:gridCol>
                <a:gridCol w="5396545">
                  <a:extLst>
                    <a:ext uri="{9D8B030D-6E8A-4147-A177-3AD203B41FA5}">
                      <a16:colId xmlns:a16="http://schemas.microsoft.com/office/drawing/2014/main" xmlns="" val="20001"/>
                    </a:ext>
                  </a:extLst>
                </a:gridCol>
              </a:tblGrid>
              <a:tr h="1113881">
                <a:tc>
                  <a:txBody>
                    <a:bodyPr/>
                    <a:lstStyle/>
                    <a:p>
                      <a:r>
                        <a:rPr lang="en-IN" dirty="0"/>
                        <a:t>Title</a:t>
                      </a:r>
                      <a:endParaRPr lang="en-US" dirty="0"/>
                    </a:p>
                  </a:txBody>
                  <a:tcPr/>
                </a:tc>
                <a:tc>
                  <a:txBody>
                    <a:bodyPr/>
                    <a:lstStyle/>
                    <a:p>
                      <a:r>
                        <a:rPr lang="en-IN" dirty="0">
                          <a:solidFill>
                            <a:schemeClr val="bg1"/>
                          </a:solidFill>
                          <a:latin typeface="Times New Roman" pitchFamily="18" charset="0"/>
                          <a:cs typeface="Times New Roman" pitchFamily="18" charset="0"/>
                        </a:rPr>
                        <a:t>Improving the return</a:t>
                      </a:r>
                      <a:r>
                        <a:rPr lang="en-IN" baseline="0" dirty="0">
                          <a:solidFill>
                            <a:schemeClr val="bg1"/>
                          </a:solidFill>
                          <a:latin typeface="Times New Roman" pitchFamily="18" charset="0"/>
                          <a:cs typeface="Times New Roman" pitchFamily="18" charset="0"/>
                        </a:rPr>
                        <a:t> loss</a:t>
                      </a:r>
                      <a:r>
                        <a:rPr lang="en-IN" dirty="0">
                          <a:solidFill>
                            <a:schemeClr val="bg1"/>
                          </a:solidFill>
                          <a:latin typeface="Times New Roman" pitchFamily="18" charset="0"/>
                          <a:cs typeface="Times New Roman" pitchFamily="18" charset="0"/>
                        </a:rPr>
                        <a:t> of </a:t>
                      </a:r>
                      <a:r>
                        <a:rPr lang="en-IN" baseline="0" dirty="0">
                          <a:solidFill>
                            <a:schemeClr val="bg1"/>
                          </a:solidFill>
                          <a:latin typeface="Times New Roman" pitchFamily="18" charset="0"/>
                          <a:cs typeface="Times New Roman" pitchFamily="18" charset="0"/>
                        </a:rPr>
                        <a:t> the</a:t>
                      </a:r>
                      <a:r>
                        <a:rPr lang="en-IN" dirty="0">
                          <a:solidFill>
                            <a:schemeClr val="bg1"/>
                          </a:solidFill>
                          <a:latin typeface="Times New Roman" pitchFamily="18" charset="0"/>
                          <a:cs typeface="Times New Roman" pitchFamily="18" charset="0"/>
                        </a:rPr>
                        <a:t> Antenna</a:t>
                      </a:r>
                      <a:r>
                        <a:rPr lang="en-IN" baseline="0" dirty="0">
                          <a:solidFill>
                            <a:schemeClr val="bg1"/>
                          </a:solidFill>
                          <a:latin typeface="Times New Roman" pitchFamily="18" charset="0"/>
                          <a:cs typeface="Times New Roman" pitchFamily="18" charset="0"/>
                        </a:rPr>
                        <a:t> via</a:t>
                      </a:r>
                      <a:r>
                        <a:rPr lang="en-IN" dirty="0">
                          <a:solidFill>
                            <a:schemeClr val="bg1"/>
                          </a:solidFill>
                          <a:latin typeface="Times New Roman" pitchFamily="18" charset="0"/>
                          <a:cs typeface="Times New Roman" pitchFamily="18" charset="0"/>
                        </a:rPr>
                        <a:t>  fractal</a:t>
                      </a:r>
                      <a:r>
                        <a:rPr lang="en-IN" baseline="0" dirty="0">
                          <a:solidFill>
                            <a:schemeClr val="bg1"/>
                          </a:solidFill>
                          <a:latin typeface="Times New Roman" pitchFamily="18" charset="0"/>
                          <a:cs typeface="Times New Roman" pitchFamily="18" charset="0"/>
                        </a:rPr>
                        <a:t> slot</a:t>
                      </a:r>
                      <a:endParaRPr lang="en-US" dirty="0">
                        <a:solidFill>
                          <a:schemeClr val="bg1"/>
                        </a:solidFill>
                      </a:endParaRPr>
                    </a:p>
                  </a:txBody>
                  <a:tcPr/>
                </a:tc>
                <a:extLst>
                  <a:ext uri="{0D108BD9-81ED-4DB2-BD59-A6C34878D82A}">
                    <a16:rowId xmlns:a16="http://schemas.microsoft.com/office/drawing/2014/main" xmlns="" val="10000"/>
                  </a:ext>
                </a:extLst>
              </a:tr>
              <a:tr h="656599">
                <a:tc>
                  <a:txBody>
                    <a:bodyPr/>
                    <a:lstStyle/>
                    <a:p>
                      <a:r>
                        <a:rPr lang="en-IN" dirty="0"/>
                        <a:t>Authors</a:t>
                      </a:r>
                      <a:endParaRPr lang="en-US" dirty="0"/>
                    </a:p>
                  </a:txBody>
                  <a:tcPr/>
                </a:tc>
                <a:tc>
                  <a:txBody>
                    <a:bodyPr/>
                    <a:lstStyle/>
                    <a:p>
                      <a:r>
                        <a:rPr lang="en-IN" dirty="0" err="1"/>
                        <a:t>Zubair</a:t>
                      </a:r>
                      <a:r>
                        <a:rPr lang="en-IN" dirty="0"/>
                        <a:t> Ahmed, </a:t>
                      </a:r>
                      <a:r>
                        <a:rPr lang="en-IN" dirty="0" err="1"/>
                        <a:t>Awab</a:t>
                      </a:r>
                      <a:r>
                        <a:rPr lang="en-IN" dirty="0"/>
                        <a:t> Muhammad &amp; </a:t>
                      </a:r>
                      <a:r>
                        <a:rPr lang="en-IN" dirty="0" err="1"/>
                        <a:t>Mojeeb</a:t>
                      </a:r>
                      <a:r>
                        <a:rPr lang="en-IN" dirty="0"/>
                        <a:t> Bin </a:t>
                      </a:r>
                      <a:r>
                        <a:rPr lang="en-IN" dirty="0" err="1"/>
                        <a:t>Ishan</a:t>
                      </a:r>
                      <a:endParaRPr lang="en-US" dirty="0"/>
                    </a:p>
                  </a:txBody>
                  <a:tcPr/>
                </a:tc>
                <a:extLst>
                  <a:ext uri="{0D108BD9-81ED-4DB2-BD59-A6C34878D82A}">
                    <a16:rowId xmlns:a16="http://schemas.microsoft.com/office/drawing/2014/main" xmlns="" val="10001"/>
                  </a:ext>
                </a:extLst>
              </a:tr>
              <a:tr h="938042">
                <a:tc>
                  <a:txBody>
                    <a:bodyPr/>
                    <a:lstStyle/>
                    <a:p>
                      <a:r>
                        <a:rPr lang="en-IN" dirty="0"/>
                        <a:t>Publication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a:solidFill>
                            <a:schemeClr val="dk1"/>
                          </a:solidFill>
                          <a:latin typeface="+mn-lt"/>
                          <a:ea typeface="+mn-ea"/>
                          <a:cs typeface="+mn-cs"/>
                        </a:rPr>
                        <a:t> </a:t>
                      </a:r>
                      <a:r>
                        <a:rPr kumimoji="0" lang="en-US" b="0" i="0" u="none" strike="noStrike" kern="1200" dirty="0">
                          <a:solidFill>
                            <a:schemeClr val="tx1">
                              <a:lumMod val="95000"/>
                              <a:lumOff val="5000"/>
                            </a:schemeClr>
                          </a:solidFill>
                          <a:latin typeface="Times New Roman" pitchFamily="18" charset="0"/>
                          <a:ea typeface="+mn-ea"/>
                          <a:cs typeface="Times New Roman" pitchFamily="18" charset="0"/>
                        </a:rPr>
                        <a:t>IEEE</a:t>
                      </a:r>
                      <a:r>
                        <a:rPr kumimoji="0" lang="en-US" b="0" i="0" u="none" strike="noStrike" kern="1200" baseline="0" dirty="0">
                          <a:solidFill>
                            <a:schemeClr val="tx1">
                              <a:lumMod val="95000"/>
                              <a:lumOff val="5000"/>
                            </a:schemeClr>
                          </a:solidFill>
                          <a:latin typeface="Times New Roman" pitchFamily="18" charset="0"/>
                          <a:ea typeface="+mn-ea"/>
                          <a:cs typeface="Times New Roman" pitchFamily="18" charset="0"/>
                        </a:rPr>
                        <a:t> Antennas </a:t>
                      </a:r>
                      <a:r>
                        <a:rPr kumimoji="0" lang="en-US" b="0" i="0" u="none" strike="noStrike" kern="1200" baseline="0" dirty="0">
                          <a:solidFill>
                            <a:schemeClr val="tx1">
                              <a:lumMod val="95000"/>
                              <a:lumOff val="5000"/>
                            </a:schemeClr>
                          </a:solidFill>
                          <a:latin typeface="+mn-lt"/>
                          <a:ea typeface="+mn-ea"/>
                          <a:cs typeface="+mn-cs"/>
                        </a:rPr>
                        <a:t> and  Wireless Propagation</a:t>
                      </a:r>
                      <a:r>
                        <a:rPr kumimoji="0" lang="en-US" b="0" i="0" u="none" strike="noStrike" kern="1200" dirty="0">
                          <a:solidFill>
                            <a:schemeClr val="tx1">
                              <a:lumMod val="95000"/>
                              <a:lumOff val="5000"/>
                            </a:schemeClr>
                          </a:solidFill>
                          <a:latin typeface="+mn-lt"/>
                          <a:ea typeface="+mn-ea"/>
                          <a:cs typeface="+mn-cs"/>
                        </a:rPr>
                        <a:t> Letters</a:t>
                      </a:r>
                      <a:r>
                        <a:rPr kumimoji="0" lang="en-US" b="0" i="0" u="none" strike="noStrike" kern="1200" baseline="0" dirty="0">
                          <a:solidFill>
                            <a:schemeClr val="tx1">
                              <a:lumMod val="95000"/>
                              <a:lumOff val="5000"/>
                            </a:schemeClr>
                          </a:solidFill>
                          <a:latin typeface="+mn-lt"/>
                          <a:ea typeface="+mn-ea"/>
                          <a:cs typeface="+mn-cs"/>
                        </a:rPr>
                        <a:t> v</a:t>
                      </a:r>
                      <a:r>
                        <a:rPr kumimoji="0" lang="en-US" b="0" i="0" u="none" kern="1200" dirty="0">
                          <a:solidFill>
                            <a:schemeClr val="tx1">
                              <a:lumMod val="95000"/>
                              <a:lumOff val="5000"/>
                            </a:schemeClr>
                          </a:solidFill>
                          <a:latin typeface="+mn-lt"/>
                          <a:ea typeface="+mn-ea"/>
                          <a:cs typeface="+mn-cs"/>
                        </a:rPr>
                        <a:t>olume: 10,</a:t>
                      </a:r>
                      <a:r>
                        <a:rPr lang="en-IN" dirty="0"/>
                        <a:t>no.1 ,pp.</a:t>
                      </a:r>
                      <a:r>
                        <a:rPr lang="en-IN" baseline="0" dirty="0"/>
                        <a:t> 10</a:t>
                      </a:r>
                      <a:r>
                        <a:rPr lang="en-IN" dirty="0"/>
                        <a:t>8-113,</a:t>
                      </a:r>
                      <a:r>
                        <a:rPr kumimoji="0" lang="en-US" b="0" i="0" u="none" kern="1200" dirty="0">
                          <a:solidFill>
                            <a:schemeClr val="tx1">
                              <a:lumMod val="95000"/>
                              <a:lumOff val="5000"/>
                            </a:schemeClr>
                          </a:solidFill>
                          <a:latin typeface="+mn-lt"/>
                          <a:ea typeface="+mn-ea"/>
                          <a:cs typeface="+mn-cs"/>
                        </a:rPr>
                        <a:t> 17 February 2022</a:t>
                      </a:r>
                      <a:endParaRPr lang="en-US" dirty="0">
                        <a:solidFill>
                          <a:schemeClr val="tx1">
                            <a:lumMod val="95000"/>
                            <a:lumOff val="5000"/>
                          </a:schemeClr>
                        </a:solidFill>
                      </a:endParaRPr>
                    </a:p>
                  </a:txBody>
                  <a:tcPr/>
                </a:tc>
                <a:extLst>
                  <a:ext uri="{0D108BD9-81ED-4DB2-BD59-A6C34878D82A}">
                    <a16:rowId xmlns:a16="http://schemas.microsoft.com/office/drawing/2014/main" xmlns="" val="10002"/>
                  </a:ext>
                </a:extLst>
              </a:tr>
              <a:tr h="1782197">
                <a:tc>
                  <a:txBody>
                    <a:bodyPr/>
                    <a:lstStyle/>
                    <a:p>
                      <a:r>
                        <a:rPr lang="en-IN" dirty="0"/>
                        <a:t>Overview</a:t>
                      </a:r>
                      <a:endParaRPr lang="en-US" dirty="0"/>
                    </a:p>
                  </a:txBody>
                  <a:tcPr/>
                </a:tc>
                <a:tc>
                  <a:txBody>
                    <a:bodyPr/>
                    <a:lstStyle/>
                    <a:p>
                      <a:pPr>
                        <a:buFont typeface="Arial" pitchFamily="34" charset="0"/>
                        <a:buChar char="•"/>
                      </a:pPr>
                      <a:r>
                        <a:rPr lang="en-IN" dirty="0"/>
                        <a:t>Operates at frequency of 3.09MHz.(S</a:t>
                      </a:r>
                      <a:r>
                        <a:rPr lang="en-IN" baseline="0" dirty="0"/>
                        <a:t> band)</a:t>
                      </a:r>
                      <a:endParaRPr lang="en-IN" dirty="0"/>
                    </a:p>
                    <a:p>
                      <a:pPr>
                        <a:buFont typeface="Arial" pitchFamily="34" charset="0"/>
                        <a:buChar char="•"/>
                      </a:pPr>
                      <a:r>
                        <a:rPr kumimoji="0" lang="en-US" b="0" i="0" kern="1200" dirty="0">
                          <a:solidFill>
                            <a:schemeClr val="dk1"/>
                          </a:solidFill>
                          <a:latin typeface="+mn-lt"/>
                          <a:ea typeface="+mn-ea"/>
                          <a:cs typeface="+mn-cs"/>
                        </a:rPr>
                        <a:t>a fractal-slot at center is to remove the unwanted out-of-phase current regions.</a:t>
                      </a:r>
                    </a:p>
                    <a:p>
                      <a:pPr>
                        <a:buFont typeface="Arial" pitchFamily="34" charset="0"/>
                        <a:buChar char="•"/>
                      </a:pPr>
                      <a:r>
                        <a:rPr kumimoji="0" lang="en-US" b="0" i="0" kern="1200" dirty="0">
                          <a:solidFill>
                            <a:schemeClr val="dk1"/>
                          </a:solidFill>
                          <a:latin typeface="+mn-lt"/>
                          <a:ea typeface="+mn-ea"/>
                          <a:cs typeface="+mn-cs"/>
                        </a:rPr>
                        <a:t> improves SLL, return loss, and bandwidth of notch-loaded TM </a:t>
                      </a:r>
                      <a:r>
                        <a:rPr kumimoji="0" lang="en-US" b="0" i="0" kern="1200" baseline="-25000" dirty="0">
                          <a:solidFill>
                            <a:schemeClr val="dk1"/>
                          </a:solidFill>
                          <a:latin typeface="+mn-lt"/>
                          <a:ea typeface="+mn-ea"/>
                          <a:cs typeface="+mn-cs"/>
                        </a:rPr>
                        <a:t>30</a:t>
                      </a:r>
                      <a:r>
                        <a:rPr kumimoji="0" lang="en-US" b="0" i="0" kern="1200" dirty="0">
                          <a:solidFill>
                            <a:schemeClr val="dk1"/>
                          </a:solidFill>
                          <a:latin typeface="+mn-lt"/>
                          <a:ea typeface="+mn-ea"/>
                          <a:cs typeface="+mn-cs"/>
                        </a:rPr>
                        <a:t> mode </a:t>
                      </a:r>
                      <a:endParaRPr lang="en-IN" dirty="0"/>
                    </a:p>
                    <a:p>
                      <a:pPr>
                        <a:buFont typeface="Arial" pitchFamily="34" charset="0"/>
                        <a:buChar char="•"/>
                      </a:pPr>
                      <a:endParaRPr lang="en-US" dirty="0"/>
                    </a:p>
                  </a:txBody>
                  <a:tcPr/>
                </a:tc>
                <a:extLst>
                  <a:ext uri="{0D108BD9-81ED-4DB2-BD59-A6C34878D82A}">
                    <a16:rowId xmlns:a16="http://schemas.microsoft.com/office/drawing/2014/main" xmlns="" val="10003"/>
                  </a:ext>
                </a:extLst>
              </a:tr>
              <a:tr h="973168">
                <a:tc>
                  <a:txBody>
                    <a:bodyPr/>
                    <a:lstStyle/>
                    <a:p>
                      <a:r>
                        <a:rPr lang="en-IN" dirty="0"/>
                        <a:t>Performance measure</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Return</a:t>
                      </a:r>
                      <a:r>
                        <a:rPr kumimoji="0" lang="en-US" b="0" i="0" kern="1200" baseline="0" dirty="0">
                          <a:solidFill>
                            <a:schemeClr val="dk1"/>
                          </a:solidFill>
                          <a:latin typeface="+mn-lt"/>
                          <a:ea typeface="+mn-ea"/>
                          <a:cs typeface="+mn-cs"/>
                        </a:rPr>
                        <a:t> loss : </a:t>
                      </a:r>
                      <a:r>
                        <a:rPr kumimoji="0" lang="en-US" b="0" i="0" kern="1200" baseline="0" dirty="0" smtClean="0">
                          <a:solidFill>
                            <a:schemeClr val="dk1"/>
                          </a:solidFill>
                          <a:latin typeface="+mn-lt"/>
                          <a:ea typeface="+mn-ea"/>
                          <a:cs typeface="+mn-cs"/>
                        </a:rPr>
                        <a:t>-16.1</a:t>
                      </a:r>
                      <a:endParaRPr kumimoji="0" lang="en-US" b="0" i="0" kern="1200" dirty="0">
                        <a:solidFill>
                          <a:schemeClr val="dk1"/>
                        </a:solidFill>
                        <a:latin typeface="+mn-lt"/>
                        <a:ea typeface="+mn-ea"/>
                        <a:cs typeface="+mn-cs"/>
                      </a:endParaRPr>
                    </a:p>
                    <a:p>
                      <a:pPr>
                        <a:buFont typeface="Arial" pitchFamily="34" charset="0"/>
                        <a:buChar char="•"/>
                      </a:pPr>
                      <a:r>
                        <a:rPr kumimoji="0" lang="en-US" b="0" i="0" kern="1200" dirty="0">
                          <a:solidFill>
                            <a:schemeClr val="dk1"/>
                          </a:solidFill>
                          <a:latin typeface="+mn-lt"/>
                          <a:ea typeface="+mn-ea"/>
                          <a:cs typeface="+mn-cs"/>
                        </a:rPr>
                        <a:t> measured</a:t>
                      </a:r>
                      <a:r>
                        <a:rPr kumimoji="0" lang="en-US" b="0" i="0" kern="1200" baseline="0" dirty="0">
                          <a:solidFill>
                            <a:schemeClr val="dk1"/>
                          </a:solidFill>
                          <a:latin typeface="+mn-lt"/>
                          <a:ea typeface="+mn-ea"/>
                          <a:cs typeface="+mn-cs"/>
                        </a:rPr>
                        <a:t> </a:t>
                      </a:r>
                      <a:r>
                        <a:rPr kumimoji="0" lang="en-US" b="0" i="0" kern="1200" dirty="0">
                          <a:solidFill>
                            <a:schemeClr val="dk1"/>
                          </a:solidFill>
                          <a:latin typeface="+mn-lt"/>
                          <a:ea typeface="+mn-ea"/>
                          <a:cs typeface="+mn-cs"/>
                        </a:rPr>
                        <a:t>gain of 13 </a:t>
                      </a:r>
                      <a:r>
                        <a:rPr kumimoji="0" lang="en-US" b="0" i="0" kern="1200" dirty="0" smtClean="0">
                          <a:solidFill>
                            <a:schemeClr val="dk1"/>
                          </a:solidFill>
                          <a:latin typeface="+mn-lt"/>
                          <a:ea typeface="+mn-ea"/>
                          <a:cs typeface="+mn-cs"/>
                        </a:rPr>
                        <a:t>dB</a:t>
                      </a:r>
                      <a:endParaRPr lang="en-US" dirty="0"/>
                    </a:p>
                  </a:txBody>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214282" y="2857496"/>
            <a:ext cx="571504" cy="707886"/>
          </a:xfrm>
          <a:prstGeom prst="rect">
            <a:avLst/>
          </a:prstGeom>
          <a:noFill/>
        </p:spPr>
        <p:txBody>
          <a:bodyPr wrap="square" rtlCol="0">
            <a:spAutoFit/>
          </a:bodyPr>
          <a:lstStyle/>
          <a:p>
            <a:r>
              <a:rPr lang="en-IN" sz="4000" dirty="0">
                <a:latin typeface="Times New Roman" pitchFamily="18" charset="0"/>
                <a:cs typeface="Times New Roman" pitchFamily="18" charset="0"/>
              </a:rPr>
              <a:t>1</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 xmlns:p14="http://schemas.microsoft.com/office/powerpoint/2010/main" val="2928989518"/>
              </p:ext>
            </p:extLst>
          </p:nvPr>
        </p:nvGraphicFramePr>
        <p:xfrm>
          <a:off x="857224" y="500042"/>
          <a:ext cx="7215238" cy="6000792"/>
        </p:xfrm>
        <a:graphic>
          <a:graphicData uri="http://schemas.openxmlformats.org/drawingml/2006/table">
            <a:tbl>
              <a:tblPr firstRow="1" bandRow="1">
                <a:tableStyleId>{5C22544A-7EE6-4342-B048-85BDC9FD1C3A}</a:tableStyleId>
              </a:tblPr>
              <a:tblGrid>
                <a:gridCol w="1587353">
                  <a:extLst>
                    <a:ext uri="{9D8B030D-6E8A-4147-A177-3AD203B41FA5}">
                      <a16:colId xmlns:a16="http://schemas.microsoft.com/office/drawing/2014/main" xmlns="" val="20000"/>
                    </a:ext>
                  </a:extLst>
                </a:gridCol>
                <a:gridCol w="5627885">
                  <a:extLst>
                    <a:ext uri="{9D8B030D-6E8A-4147-A177-3AD203B41FA5}">
                      <a16:colId xmlns:a16="http://schemas.microsoft.com/office/drawing/2014/main" xmlns="" val="20001"/>
                    </a:ext>
                  </a:extLst>
                </a:gridCol>
              </a:tblGrid>
              <a:tr h="960489">
                <a:tc>
                  <a:txBody>
                    <a:bodyPr/>
                    <a:lstStyle/>
                    <a:p>
                      <a:r>
                        <a:rPr lang="en-IN" dirty="0"/>
                        <a:t>Title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i="0" kern="1200" dirty="0">
                          <a:solidFill>
                            <a:schemeClr val="lt1"/>
                          </a:solidFill>
                          <a:latin typeface="+mn-lt"/>
                          <a:ea typeface="+mn-ea"/>
                          <a:cs typeface="+mn-cs"/>
                        </a:rPr>
                        <a:t>Bandwidth Enhanced Miniaturized Patch Antenna Operating at Higher Order Dual-Mode Resonance Using Modal Analysis</a:t>
                      </a:r>
                    </a:p>
                  </a:txBody>
                  <a:tcPr/>
                </a:tc>
                <a:extLst>
                  <a:ext uri="{0D108BD9-81ED-4DB2-BD59-A6C34878D82A}">
                    <a16:rowId xmlns:a16="http://schemas.microsoft.com/office/drawing/2014/main" xmlns="" val="10000"/>
                  </a:ext>
                </a:extLst>
              </a:tr>
              <a:tr h="4682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Authors</a:t>
                      </a:r>
                      <a:endParaRPr lang="en-US" dirty="0"/>
                    </a:p>
                    <a:p>
                      <a:endParaRPr lang="en-US" dirty="0"/>
                    </a:p>
                  </a:txBody>
                  <a:tcPr/>
                </a:tc>
                <a:tc>
                  <a:txBody>
                    <a:bodyPr/>
                    <a:lstStyle/>
                    <a:p>
                      <a:r>
                        <a:rPr lang="en-IN" dirty="0" err="1"/>
                        <a:t>A.Battacharyya</a:t>
                      </a:r>
                      <a:r>
                        <a:rPr lang="en-IN" dirty="0"/>
                        <a:t> ,</a:t>
                      </a:r>
                      <a:r>
                        <a:rPr lang="en-IN" dirty="0" err="1"/>
                        <a:t>J.Pal</a:t>
                      </a:r>
                      <a:r>
                        <a:rPr lang="en-IN" dirty="0"/>
                        <a:t>, </a:t>
                      </a:r>
                      <a:r>
                        <a:rPr lang="en-IN" dirty="0" err="1"/>
                        <a:t>K.Patra</a:t>
                      </a:r>
                      <a:r>
                        <a:rPr lang="en-IN" baseline="0" dirty="0"/>
                        <a:t> and </a:t>
                      </a:r>
                      <a:r>
                        <a:rPr lang="en-IN" baseline="0" dirty="0" err="1"/>
                        <a:t>B.Gupta</a:t>
                      </a:r>
                      <a:endParaRPr lang="en-US" dirty="0"/>
                    </a:p>
                  </a:txBody>
                  <a:tcPr/>
                </a:tc>
                <a:extLst>
                  <a:ext uri="{0D108BD9-81ED-4DB2-BD59-A6C34878D82A}">
                    <a16:rowId xmlns:a16="http://schemas.microsoft.com/office/drawing/2014/main" xmlns="" val="10001"/>
                  </a:ext>
                </a:extLst>
              </a:tr>
              <a:tr h="65318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Publication</a:t>
                      </a:r>
                      <a:endParaRPr lang="en-US" dirty="0"/>
                    </a:p>
                    <a:p>
                      <a:endParaRPr lang="en-US" dirty="0"/>
                    </a:p>
                  </a:txBody>
                  <a:tcPr/>
                </a:tc>
                <a:tc>
                  <a:txBody>
                    <a:bodyPr/>
                    <a:lstStyle/>
                    <a:p>
                      <a:pPr algn="l"/>
                      <a:r>
                        <a:rPr kumimoji="0" lang="en-US" b="0" i="0" u="none" strike="noStrike" kern="1200" dirty="0">
                          <a:solidFill>
                            <a:schemeClr val="tx1">
                              <a:lumMod val="95000"/>
                              <a:lumOff val="5000"/>
                            </a:schemeClr>
                          </a:solidFill>
                          <a:latin typeface="Times New Roman" pitchFamily="18" charset="0"/>
                          <a:ea typeface="+mn-ea"/>
                          <a:cs typeface="Times New Roman" pitchFamily="18" charset="0"/>
                        </a:rPr>
                        <a:t>IEEE</a:t>
                      </a:r>
                      <a:r>
                        <a:rPr kumimoji="0" lang="en-US" b="0" i="0" u="none" strike="noStrike" kern="1200" baseline="0" dirty="0">
                          <a:solidFill>
                            <a:schemeClr val="tx1">
                              <a:lumMod val="95000"/>
                              <a:lumOff val="5000"/>
                            </a:schemeClr>
                          </a:solidFill>
                          <a:latin typeface="Times New Roman" pitchFamily="18" charset="0"/>
                          <a:ea typeface="+mn-ea"/>
                          <a:cs typeface="Times New Roman" pitchFamily="18" charset="0"/>
                        </a:rPr>
                        <a:t> Antennas </a:t>
                      </a:r>
                      <a:r>
                        <a:rPr kumimoji="0" lang="en-US" b="0" i="0" u="none" strike="noStrike" kern="1200" baseline="0" dirty="0">
                          <a:solidFill>
                            <a:schemeClr val="tx1">
                              <a:lumMod val="95000"/>
                              <a:lumOff val="5000"/>
                            </a:schemeClr>
                          </a:solidFill>
                          <a:latin typeface="+mn-lt"/>
                          <a:ea typeface="+mn-ea"/>
                          <a:cs typeface="+mn-cs"/>
                        </a:rPr>
                        <a:t> and  Wireless Propagation</a:t>
                      </a:r>
                      <a:r>
                        <a:rPr kumimoji="0" lang="en-US" b="0" i="0" u="none" strike="noStrike" kern="1200" dirty="0">
                          <a:solidFill>
                            <a:schemeClr val="tx1">
                              <a:lumMod val="95000"/>
                              <a:lumOff val="5000"/>
                            </a:schemeClr>
                          </a:solidFill>
                          <a:latin typeface="+mn-lt"/>
                          <a:ea typeface="+mn-ea"/>
                          <a:cs typeface="+mn-cs"/>
                        </a:rPr>
                        <a:t> Letters</a:t>
                      </a:r>
                      <a:r>
                        <a:rPr kumimoji="0" lang="en-US" b="0" i="0" u="none" strike="noStrike" kern="1200" baseline="0" dirty="0">
                          <a:solidFill>
                            <a:schemeClr val="tx1">
                              <a:lumMod val="95000"/>
                              <a:lumOff val="5000"/>
                            </a:schemeClr>
                          </a:solidFill>
                          <a:latin typeface="+mn-lt"/>
                          <a:ea typeface="+mn-ea"/>
                          <a:cs typeface="+mn-cs"/>
                        </a:rPr>
                        <a:t> </a:t>
                      </a:r>
                      <a:r>
                        <a:rPr kumimoji="0" lang="en-US" b="0" i="0" u="none" kern="1200" dirty="0">
                          <a:solidFill>
                            <a:schemeClr val="tx1">
                              <a:lumMod val="95000"/>
                              <a:lumOff val="5000"/>
                            </a:schemeClr>
                          </a:solidFill>
                          <a:latin typeface="+mn-lt"/>
                          <a:ea typeface="+mn-ea"/>
                          <a:cs typeface="+mn-cs"/>
                        </a:rPr>
                        <a:t> Volume: 20, </a:t>
                      </a:r>
                      <a:r>
                        <a:rPr kumimoji="0" lang="en-US" b="0" i="0" u="none" strike="noStrike" kern="1200" dirty="0">
                          <a:solidFill>
                            <a:schemeClr val="tx1">
                              <a:lumMod val="95000"/>
                              <a:lumOff val="5000"/>
                            </a:schemeClr>
                          </a:solidFill>
                          <a:latin typeface="+mn-lt"/>
                          <a:ea typeface="+mn-ea"/>
                          <a:cs typeface="+mn-cs"/>
                        </a:rPr>
                        <a:t>Issue 2</a:t>
                      </a:r>
                      <a:r>
                        <a:rPr kumimoji="0" lang="en-US" b="0" i="0" u="none" kern="1200" dirty="0">
                          <a:solidFill>
                            <a:schemeClr val="tx1">
                              <a:lumMod val="95000"/>
                              <a:lumOff val="5000"/>
                            </a:schemeClr>
                          </a:solidFill>
                          <a:latin typeface="+mn-lt"/>
                          <a:ea typeface="+mn-ea"/>
                          <a:cs typeface="+mn-cs"/>
                        </a:rPr>
                        <a:t>, February 2021</a:t>
                      </a:r>
                      <a:endParaRPr lang="en-US" dirty="0">
                        <a:solidFill>
                          <a:schemeClr val="tx1">
                            <a:lumMod val="95000"/>
                            <a:lumOff val="5000"/>
                          </a:schemeClr>
                        </a:solidFill>
                      </a:endParaRPr>
                    </a:p>
                  </a:txBody>
                  <a:tcPr/>
                </a:tc>
                <a:extLst>
                  <a:ext uri="{0D108BD9-81ED-4DB2-BD59-A6C34878D82A}">
                    <a16:rowId xmlns:a16="http://schemas.microsoft.com/office/drawing/2014/main" xmlns="" val="10002"/>
                  </a:ext>
                </a:extLst>
              </a:tr>
              <a:tr h="2214578">
                <a:tc>
                  <a:txBody>
                    <a:bodyPr/>
                    <a:lstStyle/>
                    <a:p>
                      <a:r>
                        <a:rPr lang="en-IN" dirty="0"/>
                        <a:t>Overview</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rectangular </a:t>
                      </a:r>
                      <a:r>
                        <a:rPr kumimoji="0" lang="en-US" b="0" i="0" kern="1200" dirty="0" err="1">
                          <a:solidFill>
                            <a:schemeClr val="dk1"/>
                          </a:solidFill>
                          <a:latin typeface="+mn-lt"/>
                          <a:ea typeface="+mn-ea"/>
                          <a:cs typeface="+mn-cs"/>
                        </a:rPr>
                        <a:t>microstrip</a:t>
                      </a:r>
                      <a:r>
                        <a:rPr kumimoji="0" lang="en-US" b="0" i="0" kern="1200" dirty="0">
                          <a:solidFill>
                            <a:schemeClr val="dk1"/>
                          </a:solidFill>
                          <a:latin typeface="+mn-lt"/>
                          <a:ea typeface="+mn-ea"/>
                          <a:cs typeface="+mn-cs"/>
                        </a:rPr>
                        <a:t> antenna operating at a higher order at TM03</a:t>
                      </a:r>
                      <a:r>
                        <a:rPr kumimoji="0" lang="en-US" b="0" i="0" kern="1200" baseline="0" dirty="0">
                          <a:solidFill>
                            <a:schemeClr val="dk1"/>
                          </a:solidFill>
                          <a:latin typeface="+mn-lt"/>
                          <a:ea typeface="+mn-ea"/>
                          <a:cs typeface="+mn-cs"/>
                        </a:rPr>
                        <a:t> mode.</a:t>
                      </a:r>
                      <a:endParaRPr kumimoji="0" lang="en-US" b="0" i="0" kern="1200" dirty="0">
                        <a:solidFill>
                          <a:schemeClr val="dk1"/>
                        </a:solidFill>
                        <a:latin typeface="+mn-lt"/>
                        <a:ea typeface="+mn-ea"/>
                        <a:cs typeface="+mn-cs"/>
                      </a:endParaRPr>
                    </a:p>
                    <a:p>
                      <a:pPr>
                        <a:buFont typeface="Arial" pitchFamily="34" charset="0"/>
                        <a:buChar char="•"/>
                      </a:pPr>
                      <a:r>
                        <a:rPr kumimoji="0" lang="en-US" b="0" i="0" kern="1200" dirty="0">
                          <a:solidFill>
                            <a:schemeClr val="dk1"/>
                          </a:solidFill>
                          <a:latin typeface="+mn-lt"/>
                          <a:ea typeface="+mn-ea"/>
                          <a:cs typeface="+mn-cs"/>
                        </a:rPr>
                        <a:t>antenna efficiency at the design frequency of 5.8 GHz. </a:t>
                      </a:r>
                    </a:p>
                    <a:p>
                      <a:pPr>
                        <a:buFont typeface="Arial" pitchFamily="34" charset="0"/>
                        <a:buChar char="•"/>
                      </a:pPr>
                      <a:r>
                        <a:rPr kumimoji="0" lang="en-US" b="0" i="0" kern="1200" dirty="0">
                          <a:solidFill>
                            <a:schemeClr val="dk1"/>
                          </a:solidFill>
                          <a:latin typeface="+mn-lt"/>
                          <a:ea typeface="+mn-ea"/>
                          <a:cs typeface="+mn-cs"/>
                        </a:rPr>
                        <a:t>A wide slot reduces side lobes of the radiation pattern. </a:t>
                      </a:r>
                    </a:p>
                    <a:p>
                      <a:pPr>
                        <a:buFont typeface="Arial" pitchFamily="34" charset="0"/>
                        <a:buChar char="•"/>
                      </a:pPr>
                      <a:r>
                        <a:rPr kumimoji="0" lang="en-US" b="0" i="0" kern="1200" dirty="0">
                          <a:solidFill>
                            <a:schemeClr val="dk1"/>
                          </a:solidFill>
                          <a:latin typeface="+mn-lt"/>
                          <a:ea typeface="+mn-ea"/>
                          <a:cs typeface="+mn-cs"/>
                        </a:rPr>
                        <a:t>The antenna is fed by a coaxial probe and is easy to fabricate</a:t>
                      </a:r>
                    </a:p>
                  </a:txBody>
                  <a:tcPr/>
                </a:tc>
                <a:extLst>
                  <a:ext uri="{0D108BD9-81ED-4DB2-BD59-A6C34878D82A}">
                    <a16:rowId xmlns:a16="http://schemas.microsoft.com/office/drawing/2014/main" xmlns="" val="10003"/>
                  </a:ext>
                </a:extLst>
              </a:tr>
              <a:tr h="1461038">
                <a:tc>
                  <a:txBody>
                    <a:bodyPr/>
                    <a:lstStyle/>
                    <a:p>
                      <a:r>
                        <a:rPr lang="en-IN" dirty="0"/>
                        <a:t>Performance measure</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Excitation of this TM03 mode increases gain </a:t>
                      </a:r>
                    </a:p>
                    <a:p>
                      <a:pPr>
                        <a:buFont typeface="Arial" pitchFamily="34" charset="0"/>
                        <a:buChar char="•"/>
                      </a:pPr>
                      <a:r>
                        <a:rPr kumimoji="0" lang="en-US" b="0" i="0" kern="1200" dirty="0">
                          <a:solidFill>
                            <a:schemeClr val="dk1"/>
                          </a:solidFill>
                          <a:latin typeface="+mn-lt"/>
                          <a:ea typeface="+mn-ea"/>
                          <a:cs typeface="+mn-cs"/>
                        </a:rPr>
                        <a:t> impedance bandwidth of 8.5%</a:t>
                      </a:r>
                    </a:p>
                    <a:p>
                      <a:pPr>
                        <a:buFont typeface="Arial" pitchFamily="34" charset="0"/>
                        <a:buChar char="•"/>
                      </a:pPr>
                      <a:r>
                        <a:rPr kumimoji="0" lang="en-US" b="0" i="0" kern="1200" dirty="0">
                          <a:solidFill>
                            <a:schemeClr val="dk1"/>
                          </a:solidFill>
                          <a:latin typeface="+mn-lt"/>
                          <a:ea typeface="+mn-ea"/>
                          <a:cs typeface="+mn-cs"/>
                        </a:rPr>
                        <a:t>Peak gain of 10.5 </a:t>
                      </a:r>
                      <a:r>
                        <a:rPr kumimoji="0" lang="en-US" b="0" i="0" kern="1200" dirty="0" smtClean="0">
                          <a:solidFill>
                            <a:schemeClr val="dk1"/>
                          </a:solidFill>
                          <a:latin typeface="+mn-lt"/>
                          <a:ea typeface="+mn-ea"/>
                          <a:cs typeface="+mn-cs"/>
                        </a:rPr>
                        <a:t>dB.</a:t>
                      </a:r>
                      <a:endParaRPr lang="en-US" dirty="0"/>
                    </a:p>
                  </a:txBody>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214282" y="2786058"/>
            <a:ext cx="500066" cy="707886"/>
          </a:xfrm>
          <a:prstGeom prst="rect">
            <a:avLst/>
          </a:prstGeom>
          <a:noFill/>
        </p:spPr>
        <p:txBody>
          <a:bodyPr wrap="square" rtlCol="0">
            <a:spAutoFit/>
          </a:bodyPr>
          <a:lstStyle/>
          <a:p>
            <a:r>
              <a:rPr lang="en-IN" sz="4000" dirty="0">
                <a:latin typeface="Times New Roman" pitchFamily="18" charset="0"/>
                <a:cs typeface="Times New Roman" pitchFamily="18" charset="0"/>
              </a:rPr>
              <a:t>2</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785786" y="500043"/>
          <a:ext cx="7358114" cy="5715040"/>
        </p:xfrm>
        <a:graphic>
          <a:graphicData uri="http://schemas.openxmlformats.org/drawingml/2006/table">
            <a:tbl>
              <a:tblPr firstRow="1" bandRow="1">
                <a:tableStyleId>{5C22544A-7EE6-4342-B048-85BDC9FD1C3A}</a:tableStyleId>
              </a:tblPr>
              <a:tblGrid>
                <a:gridCol w="1684856">
                  <a:extLst>
                    <a:ext uri="{9D8B030D-6E8A-4147-A177-3AD203B41FA5}">
                      <a16:colId xmlns:a16="http://schemas.microsoft.com/office/drawing/2014/main" xmlns="" val="20000"/>
                    </a:ext>
                  </a:extLst>
                </a:gridCol>
                <a:gridCol w="5673258">
                  <a:extLst>
                    <a:ext uri="{9D8B030D-6E8A-4147-A177-3AD203B41FA5}">
                      <a16:colId xmlns:a16="http://schemas.microsoft.com/office/drawing/2014/main" xmlns="" val="20001"/>
                    </a:ext>
                  </a:extLst>
                </a:gridCol>
              </a:tblGrid>
              <a:tr h="11959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Title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a:solidFill>
                            <a:schemeClr val="lt1"/>
                          </a:solidFill>
                          <a:latin typeface="+mn-lt"/>
                          <a:ea typeface="+mn-ea"/>
                          <a:cs typeface="+mn-cs"/>
                        </a:rPr>
                        <a:t>Differentially-Fed Circular Patch Antenna under Dual High-order Modes for Enhanced Bandwidth and Stable High Gain</a:t>
                      </a:r>
                    </a:p>
                    <a:p>
                      <a:endParaRPr lang="en-US" dirty="0"/>
                    </a:p>
                  </a:txBody>
                  <a:tcPr/>
                </a:tc>
                <a:extLst>
                  <a:ext uri="{0D108BD9-81ED-4DB2-BD59-A6C34878D82A}">
                    <a16:rowId xmlns:a16="http://schemas.microsoft.com/office/drawing/2014/main" xmlns="" val="10000"/>
                  </a:ext>
                </a:extLst>
              </a:tr>
              <a:tr h="6439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Authors</a:t>
                      </a:r>
                      <a:endParaRPr lang="en-US" dirty="0"/>
                    </a:p>
                    <a:p>
                      <a:endParaRPr lang="en-US" dirty="0"/>
                    </a:p>
                  </a:txBody>
                  <a:tcPr/>
                </a:tc>
                <a:tc>
                  <a:txBody>
                    <a:bodyPr/>
                    <a:lstStyle/>
                    <a:p>
                      <a:r>
                        <a:rPr lang="en-IN" dirty="0" err="1"/>
                        <a:t>X.Zhang</a:t>
                      </a:r>
                      <a:r>
                        <a:rPr lang="en-IN" dirty="0"/>
                        <a:t>, </a:t>
                      </a:r>
                      <a:r>
                        <a:rPr lang="en-IN" dirty="0" err="1"/>
                        <a:t>K.D.Hong</a:t>
                      </a:r>
                      <a:r>
                        <a:rPr lang="en-IN" dirty="0"/>
                        <a:t> ,</a:t>
                      </a:r>
                      <a:r>
                        <a:rPr lang="en-IN" dirty="0" err="1"/>
                        <a:t>L.Zhu</a:t>
                      </a:r>
                      <a:r>
                        <a:rPr lang="en-IN" dirty="0"/>
                        <a:t> ,</a:t>
                      </a:r>
                      <a:r>
                        <a:rPr lang="en-IN" dirty="0" err="1"/>
                        <a:t>X.K.Bi</a:t>
                      </a:r>
                      <a:r>
                        <a:rPr lang="en-IN" baseline="0" dirty="0"/>
                        <a:t> and </a:t>
                      </a:r>
                      <a:r>
                        <a:rPr lang="en-IN" baseline="0" dirty="0" err="1"/>
                        <a:t>T.Yuan</a:t>
                      </a:r>
                      <a:endParaRPr lang="en-US" dirty="0"/>
                    </a:p>
                  </a:txBody>
                  <a:tcPr/>
                </a:tc>
                <a:extLst>
                  <a:ext uri="{0D108BD9-81ED-4DB2-BD59-A6C34878D82A}">
                    <a16:rowId xmlns:a16="http://schemas.microsoft.com/office/drawing/2014/main" xmlns="" val="10001"/>
                  </a:ext>
                </a:extLst>
              </a:tr>
              <a:tr h="6553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Publication</a:t>
                      </a:r>
                      <a:endParaRPr lang="en-US" dirty="0"/>
                    </a:p>
                    <a:p>
                      <a:endParaRPr lang="en-US" dirty="0"/>
                    </a:p>
                  </a:txBody>
                  <a:tcPr/>
                </a:tc>
                <a:tc>
                  <a:txBody>
                    <a:bodyPr/>
                    <a:lstStyle/>
                    <a:p>
                      <a:r>
                        <a:rPr lang="en-IN" dirty="0"/>
                        <a:t>IEEE </a:t>
                      </a:r>
                      <a:r>
                        <a:rPr lang="en-IN" dirty="0" err="1"/>
                        <a:t>Trans.Antennas</a:t>
                      </a:r>
                      <a:r>
                        <a:rPr lang="en-IN" dirty="0"/>
                        <a:t> Propag.,vol.69,no.1 ,pp.508-513,Jan.2021.</a:t>
                      </a:r>
                      <a:endParaRPr lang="en-US" dirty="0"/>
                    </a:p>
                  </a:txBody>
                  <a:tcPr/>
                </a:tc>
                <a:extLst>
                  <a:ext uri="{0D108BD9-81ED-4DB2-BD59-A6C34878D82A}">
                    <a16:rowId xmlns:a16="http://schemas.microsoft.com/office/drawing/2014/main" xmlns="" val="10002"/>
                  </a:ext>
                </a:extLst>
              </a:tr>
              <a:tr h="2023881">
                <a:tc>
                  <a:txBody>
                    <a:bodyPr/>
                    <a:lstStyle/>
                    <a:p>
                      <a:r>
                        <a:rPr lang="en-IN" dirty="0"/>
                        <a:t>Overview</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broadside radiation of TM </a:t>
                      </a:r>
                      <a:r>
                        <a:rPr kumimoji="0" lang="en-US" b="0" i="0" kern="1200" baseline="-25000" dirty="0">
                          <a:solidFill>
                            <a:schemeClr val="dk1"/>
                          </a:solidFill>
                          <a:latin typeface="+mn-lt"/>
                          <a:ea typeface="+mn-ea"/>
                          <a:cs typeface="+mn-cs"/>
                        </a:rPr>
                        <a:t>31</a:t>
                      </a:r>
                      <a:r>
                        <a:rPr kumimoji="0" lang="en-US" b="0" i="0" kern="1200" dirty="0">
                          <a:solidFill>
                            <a:schemeClr val="dk1"/>
                          </a:solidFill>
                          <a:latin typeface="+mn-lt"/>
                          <a:ea typeface="+mn-ea"/>
                          <a:cs typeface="+mn-cs"/>
                        </a:rPr>
                        <a:t> mode</a:t>
                      </a:r>
                      <a:r>
                        <a:rPr kumimoji="0" lang="en-US" b="0" i="0" kern="1200" baseline="0" dirty="0">
                          <a:solidFill>
                            <a:schemeClr val="dk1"/>
                          </a:solidFill>
                          <a:latin typeface="+mn-lt"/>
                          <a:ea typeface="+mn-ea"/>
                          <a:cs typeface="+mn-cs"/>
                        </a:rPr>
                        <a:t> is</a:t>
                      </a:r>
                      <a:r>
                        <a:rPr kumimoji="0" lang="en-US" b="0" i="0" kern="1200" dirty="0">
                          <a:solidFill>
                            <a:schemeClr val="dk1"/>
                          </a:solidFill>
                          <a:latin typeface="+mn-lt"/>
                          <a:ea typeface="+mn-ea"/>
                          <a:cs typeface="+mn-cs"/>
                        </a:rPr>
                        <a:t> increased.</a:t>
                      </a:r>
                    </a:p>
                    <a:p>
                      <a:pPr>
                        <a:buFont typeface="Arial" pitchFamily="34" charset="0"/>
                        <a:buChar char="•"/>
                      </a:pPr>
                      <a:r>
                        <a:rPr kumimoji="0" lang="en-IN" b="0" i="0" kern="1200" dirty="0" err="1">
                          <a:solidFill>
                            <a:schemeClr val="dk1"/>
                          </a:solidFill>
                          <a:latin typeface="+mn-lt"/>
                          <a:ea typeface="+mn-ea"/>
                          <a:cs typeface="+mn-cs"/>
                        </a:rPr>
                        <a:t>Sidelobe</a:t>
                      </a:r>
                      <a:r>
                        <a:rPr kumimoji="0" lang="en-IN" b="0" i="0" kern="1200" dirty="0">
                          <a:solidFill>
                            <a:schemeClr val="dk1"/>
                          </a:solidFill>
                          <a:latin typeface="+mn-lt"/>
                          <a:ea typeface="+mn-ea"/>
                          <a:cs typeface="+mn-cs"/>
                        </a:rPr>
                        <a:t> is reduces by </a:t>
                      </a:r>
                      <a:r>
                        <a:rPr kumimoji="0" lang="en-US" b="0" i="0" kern="1200" dirty="0">
                          <a:solidFill>
                            <a:schemeClr val="dk1"/>
                          </a:solidFill>
                          <a:latin typeface="+mn-lt"/>
                          <a:ea typeface="+mn-ea"/>
                          <a:cs typeface="+mn-cs"/>
                        </a:rPr>
                        <a:t> the current of TM </a:t>
                      </a:r>
                      <a:r>
                        <a:rPr kumimoji="0" lang="en-US" b="0" i="0" kern="1200" baseline="-25000" dirty="0">
                          <a:solidFill>
                            <a:schemeClr val="dk1"/>
                          </a:solidFill>
                          <a:latin typeface="+mn-lt"/>
                          <a:ea typeface="+mn-ea"/>
                          <a:cs typeface="+mn-cs"/>
                        </a:rPr>
                        <a:t>12</a:t>
                      </a:r>
                      <a:r>
                        <a:rPr kumimoji="0" lang="en-US" b="0" i="0" kern="1200" dirty="0">
                          <a:solidFill>
                            <a:schemeClr val="dk1"/>
                          </a:solidFill>
                          <a:latin typeface="+mn-lt"/>
                          <a:ea typeface="+mn-ea"/>
                          <a:cs typeface="+mn-cs"/>
                        </a:rPr>
                        <a:t> mode is reshaped to be more in-phase</a:t>
                      </a:r>
                    </a:p>
                    <a:p>
                      <a:pPr>
                        <a:buFont typeface="Arial" pitchFamily="34" charset="0"/>
                        <a:buChar char="•"/>
                      </a:pPr>
                      <a:r>
                        <a:rPr kumimoji="0" lang="en-US" b="0" i="0" kern="1200" dirty="0">
                          <a:solidFill>
                            <a:schemeClr val="dk1"/>
                          </a:solidFill>
                          <a:latin typeface="+mn-lt"/>
                          <a:ea typeface="+mn-ea"/>
                          <a:cs typeface="+mn-cs"/>
                        </a:rPr>
                        <a:t>The current distribution of TM </a:t>
                      </a:r>
                      <a:r>
                        <a:rPr kumimoji="0" lang="en-US" b="0" i="0" kern="1200" baseline="-25000" dirty="0">
                          <a:solidFill>
                            <a:schemeClr val="dk1"/>
                          </a:solidFill>
                          <a:latin typeface="+mn-lt"/>
                          <a:ea typeface="+mn-ea"/>
                          <a:cs typeface="+mn-cs"/>
                        </a:rPr>
                        <a:t>31</a:t>
                      </a:r>
                      <a:r>
                        <a:rPr kumimoji="0" lang="en-US" b="0" i="0" kern="1200" dirty="0">
                          <a:solidFill>
                            <a:schemeClr val="dk1"/>
                          </a:solidFill>
                          <a:latin typeface="+mn-lt"/>
                          <a:ea typeface="+mn-ea"/>
                          <a:cs typeface="+mn-cs"/>
                        </a:rPr>
                        <a:t> mode is reconstructed by loading two open slots at the edge of patch</a:t>
                      </a:r>
                    </a:p>
                    <a:p>
                      <a:pPr>
                        <a:buFont typeface="Arial" pitchFamily="34" charset="0"/>
                        <a:buNone/>
                      </a:pPr>
                      <a:endParaRPr lang="en-US" dirty="0"/>
                    </a:p>
                  </a:txBody>
                  <a:tcPr/>
                </a:tc>
                <a:extLst>
                  <a:ext uri="{0D108BD9-81ED-4DB2-BD59-A6C34878D82A}">
                    <a16:rowId xmlns:a16="http://schemas.microsoft.com/office/drawing/2014/main" xmlns="" val="10003"/>
                  </a:ext>
                </a:extLst>
              </a:tr>
              <a:tr h="1195929">
                <a:tc>
                  <a:txBody>
                    <a:bodyPr/>
                    <a:lstStyle/>
                    <a:p>
                      <a:r>
                        <a:rPr lang="en-IN" dirty="0"/>
                        <a:t>Performance </a:t>
                      </a:r>
                    </a:p>
                    <a:p>
                      <a:r>
                        <a:rPr lang="en-IN" dirty="0"/>
                        <a:t>measure</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 Antenna produces high gain up to 13.7 </a:t>
                      </a:r>
                      <a:r>
                        <a:rPr kumimoji="0" lang="en-US" b="0" i="0" kern="1200" dirty="0" smtClean="0">
                          <a:solidFill>
                            <a:schemeClr val="dk1"/>
                          </a:solidFill>
                          <a:latin typeface="+mn-lt"/>
                          <a:ea typeface="+mn-ea"/>
                          <a:cs typeface="+mn-cs"/>
                        </a:rPr>
                        <a:t>dB.</a:t>
                      </a:r>
                      <a:endParaRPr kumimoji="0" lang="en-US" b="0" i="0" kern="1200" dirty="0">
                        <a:solidFill>
                          <a:schemeClr val="dk1"/>
                        </a:solidFill>
                        <a:latin typeface="+mn-lt"/>
                        <a:ea typeface="+mn-ea"/>
                        <a:cs typeface="+mn-cs"/>
                      </a:endParaRPr>
                    </a:p>
                    <a:p>
                      <a:pPr>
                        <a:buFont typeface="Arial" pitchFamily="34" charset="0"/>
                        <a:buChar char="•"/>
                      </a:pPr>
                      <a:r>
                        <a:rPr kumimoji="0" lang="en-US" b="0" i="0" kern="1200" dirty="0" err="1">
                          <a:solidFill>
                            <a:schemeClr val="dk1"/>
                          </a:solidFill>
                          <a:latin typeface="+mn-lt"/>
                          <a:ea typeface="+mn-ea"/>
                          <a:cs typeface="+mn-cs"/>
                        </a:rPr>
                        <a:t>Beamwidth</a:t>
                      </a:r>
                      <a:r>
                        <a:rPr kumimoji="0" lang="en-US" b="0" i="0" kern="1200" dirty="0">
                          <a:solidFill>
                            <a:schemeClr val="dk1"/>
                          </a:solidFill>
                          <a:latin typeface="+mn-lt"/>
                          <a:ea typeface="+mn-ea"/>
                          <a:cs typeface="+mn-cs"/>
                        </a:rPr>
                        <a:t> and gain level are kept stable </a:t>
                      </a:r>
                    </a:p>
                    <a:p>
                      <a:pPr>
                        <a:buFont typeface="Arial" pitchFamily="34" charset="0"/>
                        <a:buChar char="•"/>
                      </a:pPr>
                      <a:r>
                        <a:rPr kumimoji="0" lang="en-US" b="0" i="0" kern="1200" dirty="0">
                          <a:solidFill>
                            <a:schemeClr val="dk1"/>
                          </a:solidFill>
                          <a:latin typeface="+mn-lt"/>
                          <a:ea typeface="+mn-ea"/>
                          <a:cs typeface="+mn-cs"/>
                        </a:rPr>
                        <a:t>Bandwidth of 12.9%. </a:t>
                      </a:r>
                      <a:endParaRPr lang="en-US" dirty="0"/>
                    </a:p>
                  </a:txBody>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142844" y="2928934"/>
            <a:ext cx="428628" cy="707886"/>
          </a:xfrm>
          <a:prstGeom prst="rect">
            <a:avLst/>
          </a:prstGeom>
          <a:noFill/>
        </p:spPr>
        <p:txBody>
          <a:bodyPr wrap="square" rtlCol="0">
            <a:spAutoFit/>
          </a:bodyPr>
          <a:lstStyle/>
          <a:p>
            <a:r>
              <a:rPr lang="en-IN" sz="4000" dirty="0">
                <a:latin typeface="Times New Roman" pitchFamily="18" charset="0"/>
                <a:cs typeface="Times New Roman" pitchFamily="18" charset="0"/>
              </a:rPr>
              <a:t>3</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643182"/>
            <a:ext cx="428628" cy="707886"/>
          </a:xfrm>
          <a:prstGeom prst="rect">
            <a:avLst/>
          </a:prstGeom>
          <a:noFill/>
        </p:spPr>
        <p:txBody>
          <a:bodyPr wrap="square" rtlCol="0">
            <a:spAutoFit/>
          </a:bodyPr>
          <a:lstStyle/>
          <a:p>
            <a:r>
              <a:rPr lang="en-IN" sz="4000" dirty="0">
                <a:latin typeface="Times New Roman" pitchFamily="18" charset="0"/>
                <a:cs typeface="Times New Roman" pitchFamily="18" charset="0"/>
              </a:rPr>
              <a:t>4</a:t>
            </a:r>
            <a:endParaRPr lang="en-US" sz="4000" dirty="0">
              <a:latin typeface="Times New Roman" pitchFamily="18" charset="0"/>
              <a:cs typeface="Times New Roman" pitchFamily="18" charset="0"/>
            </a:endParaRPr>
          </a:p>
        </p:txBody>
      </p:sp>
      <p:graphicFrame>
        <p:nvGraphicFramePr>
          <p:cNvPr id="7" name="Content Placeholder 6"/>
          <p:cNvGraphicFramePr>
            <a:graphicFrameLocks noGrp="1"/>
          </p:cNvGraphicFramePr>
          <p:nvPr>
            <p:ph sz="quarter" idx="1"/>
          </p:nvPr>
        </p:nvGraphicFramePr>
        <p:xfrm>
          <a:off x="1000100" y="571480"/>
          <a:ext cx="7072362" cy="5955031"/>
        </p:xfrm>
        <a:graphic>
          <a:graphicData uri="http://schemas.openxmlformats.org/drawingml/2006/table">
            <a:tbl>
              <a:tblPr firstRow="1" bandRow="1">
                <a:tableStyleId>{5C22544A-7EE6-4342-B048-85BDC9FD1C3A}</a:tableStyleId>
              </a:tblPr>
              <a:tblGrid>
                <a:gridCol w="1605149">
                  <a:extLst>
                    <a:ext uri="{9D8B030D-6E8A-4147-A177-3AD203B41FA5}">
                      <a16:colId xmlns:a16="http://schemas.microsoft.com/office/drawing/2014/main" xmlns="" val="20000"/>
                    </a:ext>
                  </a:extLst>
                </a:gridCol>
                <a:gridCol w="5467213">
                  <a:extLst>
                    <a:ext uri="{9D8B030D-6E8A-4147-A177-3AD203B41FA5}">
                      <a16:colId xmlns:a16="http://schemas.microsoft.com/office/drawing/2014/main" xmlns="" val="20001"/>
                    </a:ext>
                  </a:extLst>
                </a:gridCol>
              </a:tblGrid>
              <a:tr h="12486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Title</a:t>
                      </a:r>
                      <a:endParaRPr lang="en-US" dirty="0"/>
                    </a:p>
                  </a:txBody>
                  <a:tcPr/>
                </a:tc>
                <a:tc>
                  <a:txBody>
                    <a:bodyPr/>
                    <a:lstStyle/>
                    <a:p>
                      <a:r>
                        <a:rPr lang="en-US" dirty="0"/>
                        <a:t>Broadband and High-Gain </a:t>
                      </a:r>
                      <a:r>
                        <a:rPr lang="en-US" dirty="0" err="1"/>
                        <a:t>Microstrip</a:t>
                      </a:r>
                      <a:r>
                        <a:rPr lang="en-US" dirty="0"/>
                        <a:t> Patch Antenna Loaded With Parasitic Mushroom-Type Structure</a:t>
                      </a:r>
                    </a:p>
                  </a:txBody>
                  <a:tcPr/>
                </a:tc>
                <a:extLst>
                  <a:ext uri="{0D108BD9-81ED-4DB2-BD59-A6C34878D82A}">
                    <a16:rowId xmlns:a16="http://schemas.microsoft.com/office/drawing/2014/main" xmlns="" val="10000"/>
                  </a:ext>
                </a:extLst>
              </a:tr>
              <a:tr h="672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Authors</a:t>
                      </a:r>
                      <a:endParaRPr lang="en-US" dirty="0"/>
                    </a:p>
                  </a:txBody>
                  <a:tcPr/>
                </a:tc>
                <a:tc>
                  <a:txBody>
                    <a:bodyPr/>
                    <a:lstStyle/>
                    <a:p>
                      <a:r>
                        <a:rPr kumimoji="0" lang="en-US" b="0" i="0" kern="1200" dirty="0" err="1">
                          <a:solidFill>
                            <a:schemeClr val="dk1"/>
                          </a:solidFill>
                          <a:latin typeface="+mn-lt"/>
                          <a:ea typeface="+mn-ea"/>
                          <a:cs typeface="+mn-cs"/>
                        </a:rPr>
                        <a:t>Yufan</a:t>
                      </a:r>
                      <a:r>
                        <a:rPr kumimoji="0" lang="en-US" b="0" i="0" kern="1200" dirty="0">
                          <a:solidFill>
                            <a:schemeClr val="dk1"/>
                          </a:solidFill>
                          <a:latin typeface="+mn-lt"/>
                          <a:ea typeface="+mn-ea"/>
                          <a:cs typeface="+mn-cs"/>
                        </a:rPr>
                        <a:t> Cao, Yang </a:t>
                      </a:r>
                      <a:r>
                        <a:rPr kumimoji="0" lang="en-US" b="0" i="0" kern="1200" dirty="0" err="1">
                          <a:solidFill>
                            <a:schemeClr val="dk1"/>
                          </a:solidFill>
                          <a:latin typeface="+mn-lt"/>
                          <a:ea typeface="+mn-ea"/>
                          <a:cs typeface="+mn-cs"/>
                        </a:rPr>
                        <a:t>Cai</a:t>
                      </a:r>
                      <a:r>
                        <a:rPr kumimoji="0" lang="en-US" b="0" i="0" kern="1200" dirty="0">
                          <a:solidFill>
                            <a:schemeClr val="dk1"/>
                          </a:solidFill>
                          <a:latin typeface="+mn-lt"/>
                          <a:ea typeface="+mn-ea"/>
                          <a:cs typeface="+mn-cs"/>
                        </a:rPr>
                        <a:t>, </a:t>
                      </a:r>
                      <a:r>
                        <a:rPr kumimoji="0" lang="en-US" b="0" i="0" kern="1200" dirty="0" err="1">
                          <a:solidFill>
                            <a:schemeClr val="dk1"/>
                          </a:solidFill>
                          <a:latin typeface="+mn-lt"/>
                          <a:ea typeface="+mn-ea"/>
                          <a:cs typeface="+mn-cs"/>
                        </a:rPr>
                        <a:t>Wenquan</a:t>
                      </a:r>
                      <a:r>
                        <a:rPr kumimoji="0" lang="en-US" b="0" i="0" kern="1200" dirty="0">
                          <a:solidFill>
                            <a:schemeClr val="dk1"/>
                          </a:solidFill>
                          <a:latin typeface="+mn-lt"/>
                          <a:ea typeface="+mn-ea"/>
                          <a:cs typeface="+mn-cs"/>
                        </a:rPr>
                        <a:t> Cao,</a:t>
                      </a:r>
                    </a:p>
                    <a:p>
                      <a:r>
                        <a:rPr kumimoji="0" lang="en-IN" b="0" i="0" kern="1200" dirty="0" err="1">
                          <a:solidFill>
                            <a:schemeClr val="dk1"/>
                          </a:solidFill>
                          <a:latin typeface="+mn-lt"/>
                          <a:ea typeface="+mn-ea"/>
                          <a:cs typeface="+mn-cs"/>
                        </a:rPr>
                        <a:t>Baokun</a:t>
                      </a:r>
                      <a:r>
                        <a:rPr kumimoji="0" lang="en-IN" b="0" i="0" kern="1200" baseline="0" dirty="0">
                          <a:solidFill>
                            <a:schemeClr val="dk1"/>
                          </a:solidFill>
                          <a:latin typeface="+mn-lt"/>
                          <a:ea typeface="+mn-ea"/>
                          <a:cs typeface="+mn-cs"/>
                        </a:rPr>
                        <a:t> Xi and </a:t>
                      </a:r>
                      <a:r>
                        <a:rPr kumimoji="0" lang="en-IN" b="0" i="0" kern="1200" baseline="0" dirty="0" err="1">
                          <a:solidFill>
                            <a:schemeClr val="dk1"/>
                          </a:solidFill>
                          <a:latin typeface="+mn-lt"/>
                          <a:ea typeface="+mn-ea"/>
                          <a:cs typeface="+mn-cs"/>
                        </a:rPr>
                        <a:t>Zuping</a:t>
                      </a:r>
                      <a:r>
                        <a:rPr kumimoji="0" lang="en-IN" b="0" i="0" kern="1200" baseline="0" dirty="0">
                          <a:solidFill>
                            <a:schemeClr val="dk1"/>
                          </a:solidFill>
                          <a:latin typeface="+mn-lt"/>
                          <a:ea typeface="+mn-ea"/>
                          <a:cs typeface="+mn-cs"/>
                        </a:rPr>
                        <a:t> </a:t>
                      </a:r>
                      <a:r>
                        <a:rPr kumimoji="0" lang="en-IN" b="0" i="0" kern="1200" baseline="0" dirty="0" err="1">
                          <a:solidFill>
                            <a:schemeClr val="dk1"/>
                          </a:solidFill>
                          <a:latin typeface="+mn-lt"/>
                          <a:ea typeface="+mn-ea"/>
                          <a:cs typeface="+mn-cs"/>
                        </a:rPr>
                        <a:t>Zian</a:t>
                      </a:r>
                      <a:endParaRPr lang="en-US" dirty="0"/>
                    </a:p>
                  </a:txBody>
                  <a:tcPr/>
                </a:tc>
                <a:extLst>
                  <a:ext uri="{0D108BD9-81ED-4DB2-BD59-A6C34878D82A}">
                    <a16:rowId xmlns:a16="http://schemas.microsoft.com/office/drawing/2014/main" xmlns="" val="10001"/>
                  </a:ext>
                </a:extLst>
              </a:tr>
              <a:tr h="672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Publication</a:t>
                      </a:r>
                      <a:endParaRPr lang="en-US" dirty="0"/>
                    </a:p>
                  </a:txBody>
                  <a:tcPr/>
                </a:tc>
                <a:tc>
                  <a:txBody>
                    <a:bodyPr/>
                    <a:lstStyle/>
                    <a:p>
                      <a:r>
                        <a:rPr lang="en-IN" dirty="0"/>
                        <a:t>IEEE </a:t>
                      </a:r>
                      <a:r>
                        <a:rPr lang="en-IN" dirty="0" err="1"/>
                        <a:t>Trans.Antennas</a:t>
                      </a:r>
                      <a:r>
                        <a:rPr lang="en-IN" dirty="0"/>
                        <a:t> Propag.,vol.18,</a:t>
                      </a:r>
                      <a:r>
                        <a:rPr lang="en-IN" baseline="0" dirty="0"/>
                        <a:t> </a:t>
                      </a:r>
                      <a:r>
                        <a:rPr lang="en-IN" dirty="0"/>
                        <a:t>pp. 1405-1409,2019</a:t>
                      </a:r>
                      <a:endParaRPr lang="en-US" dirty="0"/>
                    </a:p>
                  </a:txBody>
                  <a:tcPr/>
                </a:tc>
                <a:extLst>
                  <a:ext uri="{0D108BD9-81ED-4DB2-BD59-A6C34878D82A}">
                    <a16:rowId xmlns:a16="http://schemas.microsoft.com/office/drawing/2014/main" xmlns="" val="10002"/>
                  </a:ext>
                </a:extLst>
              </a:tr>
              <a:tr h="1536782">
                <a:tc>
                  <a:txBody>
                    <a:bodyPr/>
                    <a:lstStyle/>
                    <a:p>
                      <a:r>
                        <a:rPr lang="en-IN" dirty="0"/>
                        <a:t>Overview</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 TM </a:t>
                      </a:r>
                      <a:r>
                        <a:rPr kumimoji="0" lang="en-US" b="0" i="0" u="none" strike="noStrike" kern="1200" dirty="0">
                          <a:solidFill>
                            <a:schemeClr val="dk1"/>
                          </a:solidFill>
                          <a:latin typeface="+mn-lt"/>
                          <a:ea typeface="+mn-ea"/>
                          <a:cs typeface="+mn-cs"/>
                        </a:rPr>
                        <a:t>30</a:t>
                      </a:r>
                      <a:r>
                        <a:rPr kumimoji="0" lang="en-US" b="0" i="0" kern="1200" dirty="0">
                          <a:solidFill>
                            <a:schemeClr val="dk1"/>
                          </a:solidFill>
                          <a:latin typeface="+mn-lt"/>
                          <a:ea typeface="+mn-ea"/>
                          <a:cs typeface="+mn-cs"/>
                        </a:rPr>
                        <a:t> mode&amp; TM </a:t>
                      </a:r>
                      <a:r>
                        <a:rPr kumimoji="0" lang="en-US" b="0" i="0" u="none" strike="noStrike" kern="1200" dirty="0">
                          <a:solidFill>
                            <a:schemeClr val="dk1"/>
                          </a:solidFill>
                          <a:latin typeface="+mn-lt"/>
                          <a:ea typeface="+mn-ea"/>
                          <a:cs typeface="+mn-cs"/>
                        </a:rPr>
                        <a:t>10</a:t>
                      </a:r>
                      <a:r>
                        <a:rPr kumimoji="0" lang="en-US" b="0" i="0" kern="1200" dirty="0">
                          <a:solidFill>
                            <a:schemeClr val="dk1"/>
                          </a:solidFill>
                          <a:latin typeface="+mn-lt"/>
                          <a:ea typeface="+mn-ea"/>
                          <a:cs typeface="+mn-cs"/>
                        </a:rPr>
                        <a:t> mode</a:t>
                      </a:r>
                      <a:r>
                        <a:rPr kumimoji="0" lang="en-US" b="0" i="0" kern="1200" baseline="0" dirty="0">
                          <a:solidFill>
                            <a:schemeClr val="dk1"/>
                          </a:solidFill>
                          <a:latin typeface="+mn-lt"/>
                          <a:ea typeface="+mn-ea"/>
                          <a:cs typeface="+mn-cs"/>
                        </a:rPr>
                        <a:t> is used.</a:t>
                      </a:r>
                      <a:r>
                        <a:rPr kumimoji="0" lang="en-US" b="0" i="0" kern="1200" dirty="0">
                          <a:solidFill>
                            <a:schemeClr val="dk1"/>
                          </a:solidFill>
                          <a:latin typeface="+mn-lt"/>
                          <a:ea typeface="+mn-ea"/>
                          <a:cs typeface="+mn-cs"/>
                        </a:rPr>
                        <a:t> </a:t>
                      </a:r>
                    </a:p>
                    <a:p>
                      <a:pPr>
                        <a:buFont typeface="Arial" pitchFamily="34" charset="0"/>
                        <a:buChar char="•"/>
                      </a:pPr>
                      <a:r>
                        <a:rPr kumimoji="0" lang="en-US" b="0" i="0" kern="1200" dirty="0">
                          <a:solidFill>
                            <a:schemeClr val="dk1"/>
                          </a:solidFill>
                          <a:latin typeface="+mn-lt"/>
                          <a:ea typeface="+mn-ea"/>
                          <a:cs typeface="+mn-cs"/>
                        </a:rPr>
                        <a:t> Wideband performance is realized based on two combined modes.</a:t>
                      </a:r>
                    </a:p>
                    <a:p>
                      <a:pPr>
                        <a:buFont typeface="Arial" pitchFamily="34" charset="0"/>
                        <a:buChar char="•"/>
                      </a:pPr>
                      <a:r>
                        <a:rPr kumimoji="0" lang="en-US" b="0" i="0" kern="1200" dirty="0">
                          <a:solidFill>
                            <a:schemeClr val="dk1"/>
                          </a:solidFill>
                          <a:latin typeface="+mn-lt"/>
                          <a:ea typeface="+mn-ea"/>
                          <a:cs typeface="+mn-cs"/>
                        </a:rPr>
                        <a:t>High gain are achieved over the entire operating bandwidth.</a:t>
                      </a:r>
                      <a:endParaRPr lang="en-US" dirty="0"/>
                    </a:p>
                  </a:txBody>
                  <a:tcPr/>
                </a:tc>
                <a:extLst>
                  <a:ext uri="{0D108BD9-81ED-4DB2-BD59-A6C34878D82A}">
                    <a16:rowId xmlns:a16="http://schemas.microsoft.com/office/drawing/2014/main" xmlns="" val="10003"/>
                  </a:ext>
                </a:extLst>
              </a:tr>
              <a:tr h="1824929">
                <a:tc>
                  <a:txBody>
                    <a:bodyPr/>
                    <a:lstStyle/>
                    <a:p>
                      <a:r>
                        <a:rPr lang="en-IN" dirty="0"/>
                        <a:t>Performance measure</a:t>
                      </a:r>
                      <a:endParaRPr lang="en-US" dirty="0"/>
                    </a:p>
                  </a:txBody>
                  <a:tcPr/>
                </a:tc>
                <a:tc>
                  <a:txBody>
                    <a:bodyPr/>
                    <a:lstStyle/>
                    <a:p>
                      <a:pPr>
                        <a:buFont typeface="Arial" pitchFamily="34" charset="0"/>
                        <a:buChar char="•"/>
                      </a:pPr>
                      <a:r>
                        <a:rPr lang="en-US" dirty="0"/>
                        <a:t> impedance bandwidth is from 11.9 to 18.2 GHz, </a:t>
                      </a:r>
                    </a:p>
                    <a:p>
                      <a:pPr>
                        <a:buFont typeface="Arial" pitchFamily="34" charset="0"/>
                        <a:buChar char="•"/>
                      </a:pPr>
                      <a:r>
                        <a:rPr lang="en-US" dirty="0"/>
                        <a:t>peak-radiating gain between 10 and 10.5 </a:t>
                      </a:r>
                      <a:r>
                        <a:rPr lang="en-US" dirty="0" smtClean="0"/>
                        <a:t>dB.</a:t>
                      </a:r>
                      <a:endParaRPr lang="en-US" dirty="0"/>
                    </a:p>
                    <a:p>
                      <a:pPr>
                        <a:buFont typeface="Arial" pitchFamily="34" charset="0"/>
                        <a:buChar char="•"/>
                      </a:pPr>
                      <a:r>
                        <a:rPr lang="en-US" baseline="0" dirty="0"/>
                        <a:t> </a:t>
                      </a:r>
                      <a:r>
                        <a:rPr lang="en-US" dirty="0"/>
                        <a:t>wide bandwidth,</a:t>
                      </a:r>
                      <a:r>
                        <a:rPr lang="en-US" baseline="0" dirty="0"/>
                        <a:t> </a:t>
                      </a:r>
                      <a:r>
                        <a:rPr lang="en-US" dirty="0"/>
                        <a:t>flat and high gain</a:t>
                      </a:r>
                    </a:p>
                    <a:p>
                      <a:endParaRPr lang="en-US" dirty="0"/>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 xmlns:p14="http://schemas.microsoft.com/office/powerpoint/2010/main" val="248373186"/>
              </p:ext>
            </p:extLst>
          </p:nvPr>
        </p:nvGraphicFramePr>
        <p:xfrm>
          <a:off x="928662" y="357166"/>
          <a:ext cx="7215238" cy="6143668"/>
        </p:xfrm>
        <a:graphic>
          <a:graphicData uri="http://schemas.openxmlformats.org/drawingml/2006/table">
            <a:tbl>
              <a:tblPr firstRow="1" bandRow="1">
                <a:tableStyleId>{5C22544A-7EE6-4342-B048-85BDC9FD1C3A}</a:tableStyleId>
              </a:tblPr>
              <a:tblGrid>
                <a:gridCol w="1571636">
                  <a:extLst>
                    <a:ext uri="{9D8B030D-6E8A-4147-A177-3AD203B41FA5}">
                      <a16:colId xmlns:a16="http://schemas.microsoft.com/office/drawing/2014/main" xmlns="" val="20000"/>
                    </a:ext>
                  </a:extLst>
                </a:gridCol>
                <a:gridCol w="5643602">
                  <a:extLst>
                    <a:ext uri="{9D8B030D-6E8A-4147-A177-3AD203B41FA5}">
                      <a16:colId xmlns:a16="http://schemas.microsoft.com/office/drawing/2014/main" xmlns="" val="20001"/>
                    </a:ext>
                  </a:extLst>
                </a:gridCol>
              </a:tblGrid>
              <a:tr h="132285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Title</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a:solidFill>
                            <a:schemeClr val="lt1"/>
                          </a:solidFill>
                          <a:latin typeface="+mn-lt"/>
                          <a:ea typeface="+mn-ea"/>
                          <a:cs typeface="+mn-cs"/>
                        </a:rPr>
                        <a:t>Bandwidth Enhancement of a Differential-Fed Equilateral Triangular Patch Antenna via Loading of Shorting Posts</a:t>
                      </a:r>
                    </a:p>
                    <a:p>
                      <a:endParaRPr lang="en-US" dirty="0"/>
                    </a:p>
                  </a:txBody>
                  <a:tcPr/>
                </a:tc>
                <a:extLst>
                  <a:ext uri="{0D108BD9-81ED-4DB2-BD59-A6C34878D82A}">
                    <a16:rowId xmlns:a16="http://schemas.microsoft.com/office/drawing/2014/main" xmlns="" val="10000"/>
                  </a:ext>
                </a:extLst>
              </a:tr>
              <a:tr h="7123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Authors</a:t>
                      </a:r>
                      <a:endParaRPr lang="en-US" dirty="0"/>
                    </a:p>
                    <a:p>
                      <a:endParaRPr lang="en-US" dirty="0"/>
                    </a:p>
                  </a:txBody>
                  <a:tcPr/>
                </a:tc>
                <a:tc>
                  <a:txBody>
                    <a:bodyPr/>
                    <a:lstStyle/>
                    <a:p>
                      <a:r>
                        <a:rPr lang="en-IN" dirty="0" err="1"/>
                        <a:t>L.Guo</a:t>
                      </a:r>
                      <a:r>
                        <a:rPr lang="en-IN" dirty="0"/>
                        <a:t>,</a:t>
                      </a:r>
                      <a:r>
                        <a:rPr lang="en-IN" baseline="0" dirty="0"/>
                        <a:t> </a:t>
                      </a:r>
                      <a:r>
                        <a:rPr lang="en-IN" baseline="0" dirty="0" err="1"/>
                        <a:t>H.Yu</a:t>
                      </a:r>
                      <a:r>
                        <a:rPr lang="en-IN" baseline="0" dirty="0"/>
                        <a:t>, </a:t>
                      </a:r>
                      <a:r>
                        <a:rPr lang="en-IN" baseline="0" dirty="0" err="1"/>
                        <a:t>W.Che</a:t>
                      </a:r>
                      <a:r>
                        <a:rPr lang="en-IN" baseline="0" dirty="0"/>
                        <a:t>, and </a:t>
                      </a:r>
                      <a:r>
                        <a:rPr lang="en-IN" baseline="0" dirty="0" err="1"/>
                        <a:t>W.Yang</a:t>
                      </a:r>
                      <a:endParaRPr lang="en-US" dirty="0"/>
                    </a:p>
                  </a:txBody>
                  <a:tcPr/>
                </a:tc>
                <a:extLst>
                  <a:ext uri="{0D108BD9-81ED-4DB2-BD59-A6C34878D82A}">
                    <a16:rowId xmlns:a16="http://schemas.microsoft.com/office/drawing/2014/main" xmlns="" val="10001"/>
                  </a:ext>
                </a:extLst>
              </a:tr>
              <a:tr h="871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Publication</a:t>
                      </a:r>
                      <a:endParaRPr lang="en-US" dirty="0"/>
                    </a:p>
                    <a:p>
                      <a:endParaRPr lang="en-US" dirty="0"/>
                    </a:p>
                  </a:txBody>
                  <a:tcPr/>
                </a:tc>
                <a:tc>
                  <a:txBody>
                    <a:bodyPr/>
                    <a:lstStyle/>
                    <a:p>
                      <a:r>
                        <a:rPr lang="en-IN" dirty="0"/>
                        <a:t>IEEE Trans.</a:t>
                      </a:r>
                      <a:r>
                        <a:rPr lang="en-IN" baseline="0" dirty="0"/>
                        <a:t> Antennas </a:t>
                      </a:r>
                      <a:r>
                        <a:rPr lang="en-IN" baseline="0" dirty="0" err="1"/>
                        <a:t>Propag</a:t>
                      </a:r>
                      <a:r>
                        <a:rPr lang="en-IN" baseline="0" dirty="0"/>
                        <a:t>., Vol.67 ,no.5, pp.3132-3139, May 2019.</a:t>
                      </a:r>
                      <a:endParaRPr lang="en-US" dirty="0"/>
                    </a:p>
                  </a:txBody>
                  <a:tcPr/>
                </a:tc>
                <a:extLst>
                  <a:ext uri="{0D108BD9-81ED-4DB2-BD59-A6C34878D82A}">
                    <a16:rowId xmlns:a16="http://schemas.microsoft.com/office/drawing/2014/main" xmlns="" val="10002"/>
                  </a:ext>
                </a:extLst>
              </a:tr>
              <a:tr h="1933402">
                <a:tc>
                  <a:txBody>
                    <a:bodyPr/>
                    <a:lstStyle/>
                    <a:p>
                      <a:r>
                        <a:rPr lang="en-IN" dirty="0"/>
                        <a:t>Overview</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 Offset-fed </a:t>
                      </a:r>
                      <a:r>
                        <a:rPr kumimoji="0" lang="en-US" b="0" i="0" kern="1200" dirty="0" smtClean="0">
                          <a:solidFill>
                            <a:schemeClr val="dk1"/>
                          </a:solidFill>
                          <a:latin typeface="+mn-lt"/>
                          <a:ea typeface="+mn-ea"/>
                          <a:cs typeface="+mn-cs"/>
                        </a:rPr>
                        <a:t>reflect array </a:t>
                      </a:r>
                      <a:r>
                        <a:rPr kumimoji="0" lang="en-US" b="0" i="0" kern="1200" dirty="0">
                          <a:solidFill>
                            <a:schemeClr val="dk1"/>
                          </a:solidFill>
                          <a:latin typeface="+mn-lt"/>
                          <a:ea typeface="+mn-ea"/>
                          <a:cs typeface="+mn-cs"/>
                        </a:rPr>
                        <a:t>centered at 10 GHz designed and constructed.</a:t>
                      </a:r>
                    </a:p>
                    <a:p>
                      <a:pPr>
                        <a:buFont typeface="Arial" pitchFamily="34" charset="0"/>
                        <a:buChar char="•"/>
                      </a:pPr>
                      <a:r>
                        <a:rPr kumimoji="0" lang="en-US" b="0" i="0" kern="1200" dirty="0">
                          <a:solidFill>
                            <a:schemeClr val="dk1"/>
                          </a:solidFill>
                          <a:latin typeface="+mn-lt"/>
                          <a:ea typeface="+mn-ea"/>
                          <a:cs typeface="+mn-cs"/>
                        </a:rPr>
                        <a:t> The dimensions of  patch is</a:t>
                      </a:r>
                      <a:r>
                        <a:rPr kumimoji="0" lang="en-US" b="0" i="0" kern="1200" baseline="0" dirty="0">
                          <a:solidFill>
                            <a:schemeClr val="dk1"/>
                          </a:solidFill>
                          <a:latin typeface="+mn-lt"/>
                          <a:ea typeface="+mn-ea"/>
                          <a:cs typeface="+mn-cs"/>
                        </a:rPr>
                        <a:t> same</a:t>
                      </a:r>
                      <a:r>
                        <a:rPr kumimoji="0" lang="en-US" b="0" i="0" kern="1200" dirty="0">
                          <a:solidFill>
                            <a:schemeClr val="dk1"/>
                          </a:solidFill>
                          <a:latin typeface="+mn-lt"/>
                          <a:ea typeface="+mn-ea"/>
                          <a:cs typeface="+mn-cs"/>
                        </a:rPr>
                        <a:t> for all elements </a:t>
                      </a:r>
                    </a:p>
                    <a:p>
                      <a:pPr>
                        <a:buFont typeface="Arial" pitchFamily="34" charset="0"/>
                        <a:buChar char="•"/>
                      </a:pPr>
                      <a:r>
                        <a:rPr kumimoji="0" lang="en-US" b="0" i="0" kern="1200" dirty="0">
                          <a:solidFill>
                            <a:schemeClr val="dk1"/>
                          </a:solidFill>
                          <a:latin typeface="+mn-lt"/>
                          <a:ea typeface="+mn-ea"/>
                          <a:cs typeface="+mn-cs"/>
                        </a:rPr>
                        <a:t> The phase variation is achieved by adjusting the length of the etched slots within the patches. </a:t>
                      </a:r>
                    </a:p>
                    <a:p>
                      <a:endParaRPr lang="en-US" dirty="0"/>
                    </a:p>
                  </a:txBody>
                  <a:tcPr/>
                </a:tc>
                <a:extLst>
                  <a:ext uri="{0D108BD9-81ED-4DB2-BD59-A6C34878D82A}">
                    <a16:rowId xmlns:a16="http://schemas.microsoft.com/office/drawing/2014/main" xmlns="" val="10003"/>
                  </a:ext>
                </a:extLst>
              </a:tr>
              <a:tr h="1303785">
                <a:tc>
                  <a:txBody>
                    <a:bodyPr/>
                    <a:lstStyle/>
                    <a:p>
                      <a:r>
                        <a:rPr lang="en-IN" dirty="0"/>
                        <a:t>Performance measure</a:t>
                      </a:r>
                      <a:endParaRPr lang="en-US" dirty="0"/>
                    </a:p>
                  </a:txBody>
                  <a:tcPr/>
                </a:tc>
                <a:tc>
                  <a:txBody>
                    <a:bodyPr/>
                    <a:lstStyle/>
                    <a:p>
                      <a:pPr>
                        <a:buFont typeface="Arial" pitchFamily="34" charset="0"/>
                        <a:buChar char="•"/>
                      </a:pPr>
                      <a:r>
                        <a:rPr kumimoji="0" lang="en-US" b="0" i="0" kern="1200" dirty="0">
                          <a:solidFill>
                            <a:schemeClr val="dk1"/>
                          </a:solidFill>
                          <a:latin typeface="+mn-lt"/>
                          <a:ea typeface="+mn-ea"/>
                          <a:cs typeface="+mn-cs"/>
                        </a:rPr>
                        <a:t> 1 dB gain bandwidth of 23% is obtained </a:t>
                      </a:r>
                    </a:p>
                    <a:p>
                      <a:pPr>
                        <a:buFont typeface="Arial" pitchFamily="34" charset="0"/>
                        <a:buChar char="•"/>
                      </a:pPr>
                      <a:r>
                        <a:rPr kumimoji="0" lang="en-US" b="0" i="0" kern="1200" dirty="0">
                          <a:solidFill>
                            <a:schemeClr val="dk1"/>
                          </a:solidFill>
                          <a:latin typeface="+mn-lt"/>
                          <a:ea typeface="+mn-ea"/>
                          <a:cs typeface="+mn-cs"/>
                        </a:rPr>
                        <a:t>Aperture efficiency of 67% </a:t>
                      </a:r>
                    </a:p>
                    <a:p>
                      <a:pPr>
                        <a:buFont typeface="Arial" pitchFamily="34" charset="0"/>
                        <a:buChar char="•"/>
                      </a:pPr>
                      <a:r>
                        <a:rPr kumimoji="0" lang="en-US" b="0" i="0" kern="1200" dirty="0">
                          <a:solidFill>
                            <a:schemeClr val="dk1"/>
                          </a:solidFill>
                          <a:latin typeface="+mn-lt"/>
                          <a:ea typeface="+mn-ea"/>
                          <a:cs typeface="+mn-cs"/>
                        </a:rPr>
                        <a:t>Cross-polarization level of 26 dB at 10 GHz.</a:t>
                      </a:r>
                      <a:endParaRPr lang="en-US" dirty="0"/>
                    </a:p>
                  </a:txBody>
                  <a:tcPr/>
                </a:tc>
                <a:extLst>
                  <a:ext uri="{0D108BD9-81ED-4DB2-BD59-A6C34878D82A}">
                    <a16:rowId xmlns:a16="http://schemas.microsoft.com/office/drawing/2014/main" xmlns="" val="10004"/>
                  </a:ext>
                </a:extLst>
              </a:tr>
            </a:tbl>
          </a:graphicData>
        </a:graphic>
      </p:graphicFrame>
      <p:sp>
        <p:nvSpPr>
          <p:cNvPr id="5" name="TextBox 4"/>
          <p:cNvSpPr txBox="1"/>
          <p:nvPr/>
        </p:nvSpPr>
        <p:spPr>
          <a:xfrm flipH="1">
            <a:off x="285720" y="2571744"/>
            <a:ext cx="571504" cy="707886"/>
          </a:xfrm>
          <a:prstGeom prst="rect">
            <a:avLst/>
          </a:prstGeom>
          <a:noFill/>
        </p:spPr>
        <p:txBody>
          <a:bodyPr wrap="square" rtlCol="0">
            <a:spAutoFit/>
          </a:bodyPr>
          <a:lstStyle/>
          <a:p>
            <a:r>
              <a:rPr lang="en-IN" sz="4000" dirty="0">
                <a:solidFill>
                  <a:schemeClr val="tx1">
                    <a:lumMod val="95000"/>
                    <a:lumOff val="5000"/>
                  </a:schemeClr>
                </a:solidFill>
                <a:latin typeface="Times New Roman" pitchFamily="18" charset="0"/>
                <a:cs typeface="Times New Roman" pitchFamily="18" charset="0"/>
              </a:rPr>
              <a:t>5</a:t>
            </a:r>
            <a:endParaRPr lang="en-US" sz="4000" dirty="0">
              <a:solidFill>
                <a:schemeClr val="tx1">
                  <a:lumMod val="95000"/>
                  <a:lumOff val="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7467600" cy="1143000"/>
          </a:xfrm>
        </p:spPr>
        <p:txBody>
          <a:bodyPr>
            <a:normAutofit/>
          </a:bodyPr>
          <a:lstStyle/>
          <a:p>
            <a:r>
              <a:rPr lang="en-IN" sz="3200" b="1" dirty="0">
                <a:solidFill>
                  <a:schemeClr val="tx1">
                    <a:lumMod val="95000"/>
                    <a:lumOff val="5000"/>
                  </a:schemeClr>
                </a:solidFill>
                <a:latin typeface="Times New Roman" pitchFamily="18" charset="0"/>
                <a:cs typeface="Times New Roman" pitchFamily="18" charset="0"/>
              </a:rPr>
              <a:t>DESIGN &amp;CONFIGURATION OF PROPOSED ANTENNA</a:t>
            </a:r>
            <a:endParaRPr lang="en-US" sz="3200" b="1" dirty="0">
              <a:solidFill>
                <a:schemeClr val="tx1">
                  <a:lumMod val="95000"/>
                  <a:lumOff val="5000"/>
                </a:schemeClr>
              </a:solidFill>
              <a:latin typeface="Times New Roman" pitchFamily="18" charset="0"/>
              <a:cs typeface="Times New Roman" pitchFamily="18" charset="0"/>
            </a:endParaRPr>
          </a:p>
        </p:txBody>
      </p:sp>
      <p:pic>
        <p:nvPicPr>
          <p:cNvPr id="4" name="Content Placeholder 6" descr="1693121437862.jpg"/>
          <p:cNvPicPr>
            <a:picLocks noGrp="1" noChangeAspect="1"/>
          </p:cNvPicPr>
          <p:nvPr>
            <p:ph sz="quarter" idx="1"/>
          </p:nvPr>
        </p:nvPicPr>
        <p:blipFill>
          <a:blip r:embed="rId2"/>
          <a:stretch>
            <a:fillRect/>
          </a:stretch>
        </p:blipFill>
        <p:spPr>
          <a:xfrm>
            <a:off x="4283968" y="2000240"/>
            <a:ext cx="4002808" cy="4357718"/>
          </a:xfrm>
        </p:spPr>
      </p:pic>
      <p:graphicFrame>
        <p:nvGraphicFramePr>
          <p:cNvPr id="5" name="Content Placeholder 3"/>
          <p:cNvGraphicFramePr>
            <a:graphicFrameLocks/>
          </p:cNvGraphicFramePr>
          <p:nvPr>
            <p:extLst>
              <p:ext uri="{D42A27DB-BD31-4B8C-83A1-F6EECF244321}">
                <p14:modId xmlns="" xmlns:p14="http://schemas.microsoft.com/office/powerpoint/2010/main" val="89076997"/>
              </p:ext>
            </p:extLst>
          </p:nvPr>
        </p:nvGraphicFramePr>
        <p:xfrm>
          <a:off x="611560" y="1714491"/>
          <a:ext cx="4031878" cy="4768942"/>
        </p:xfrm>
        <a:graphic>
          <a:graphicData uri="http://schemas.openxmlformats.org/drawingml/2006/table">
            <a:tbl>
              <a:tblPr firstRow="1" bandRow="1">
                <a:tableStyleId>{5C22544A-7EE6-4342-B048-85BDC9FD1C3A}</a:tableStyleId>
              </a:tblPr>
              <a:tblGrid>
                <a:gridCol w="2004945">
                  <a:extLst>
                    <a:ext uri="{9D8B030D-6E8A-4147-A177-3AD203B41FA5}">
                      <a16:colId xmlns:a16="http://schemas.microsoft.com/office/drawing/2014/main" xmlns="" val="20000"/>
                    </a:ext>
                  </a:extLst>
                </a:gridCol>
                <a:gridCol w="2026933">
                  <a:extLst>
                    <a:ext uri="{9D8B030D-6E8A-4147-A177-3AD203B41FA5}">
                      <a16:colId xmlns:a16="http://schemas.microsoft.com/office/drawing/2014/main" xmlns="" val="20001"/>
                    </a:ext>
                  </a:extLst>
                </a:gridCol>
              </a:tblGrid>
              <a:tr h="579126">
                <a:tc>
                  <a:txBody>
                    <a:bodyPr/>
                    <a:lstStyle/>
                    <a:p>
                      <a:r>
                        <a:rPr lang="en-IN" dirty="0"/>
                        <a:t>PARAMETERS</a:t>
                      </a:r>
                      <a:endParaRPr lang="en-US" dirty="0"/>
                    </a:p>
                  </a:txBody>
                  <a:tcPr/>
                </a:tc>
                <a:tc>
                  <a:txBody>
                    <a:bodyPr/>
                    <a:lstStyle/>
                    <a:p>
                      <a:r>
                        <a:rPr lang="en-IN" dirty="0"/>
                        <a:t>mm</a:t>
                      </a:r>
                    </a:p>
                  </a:txBody>
                  <a:tcPr/>
                </a:tc>
                <a:extLst>
                  <a:ext uri="{0D108BD9-81ED-4DB2-BD59-A6C34878D82A}">
                    <a16:rowId xmlns:a16="http://schemas.microsoft.com/office/drawing/2014/main" xmlns="" val="10000"/>
                  </a:ext>
                </a:extLst>
              </a:tr>
              <a:tr h="579126">
                <a:tc>
                  <a:txBody>
                    <a:bodyPr/>
                    <a:lstStyle/>
                    <a:p>
                      <a:r>
                        <a:rPr lang="en-IN" dirty="0"/>
                        <a:t>L</a:t>
                      </a:r>
                      <a:endParaRPr lang="en-US" dirty="0"/>
                    </a:p>
                  </a:txBody>
                  <a:tcPr/>
                </a:tc>
                <a:tc>
                  <a:txBody>
                    <a:bodyPr/>
                    <a:lstStyle/>
                    <a:p>
                      <a:r>
                        <a:rPr lang="en-IN" dirty="0"/>
                        <a:t>90</a:t>
                      </a:r>
                      <a:endParaRPr lang="en-US" dirty="0"/>
                    </a:p>
                  </a:txBody>
                  <a:tcPr/>
                </a:tc>
                <a:extLst>
                  <a:ext uri="{0D108BD9-81ED-4DB2-BD59-A6C34878D82A}">
                    <a16:rowId xmlns:a16="http://schemas.microsoft.com/office/drawing/2014/main" xmlns="" val="10001"/>
                  </a:ext>
                </a:extLst>
              </a:tr>
              <a:tr h="579126">
                <a:tc>
                  <a:txBody>
                    <a:bodyPr/>
                    <a:lstStyle/>
                    <a:p>
                      <a:r>
                        <a:rPr lang="en-IN" dirty="0"/>
                        <a:t>W</a:t>
                      </a:r>
                      <a:endParaRPr lang="en-US" dirty="0"/>
                    </a:p>
                  </a:txBody>
                  <a:tcPr/>
                </a:tc>
                <a:tc>
                  <a:txBody>
                    <a:bodyPr/>
                    <a:lstStyle/>
                    <a:p>
                      <a:r>
                        <a:rPr lang="en-IN" dirty="0"/>
                        <a:t>101</a:t>
                      </a:r>
                      <a:endParaRPr lang="en-US" dirty="0"/>
                    </a:p>
                  </a:txBody>
                  <a:tcPr/>
                </a:tc>
                <a:extLst>
                  <a:ext uri="{0D108BD9-81ED-4DB2-BD59-A6C34878D82A}">
                    <a16:rowId xmlns:a16="http://schemas.microsoft.com/office/drawing/2014/main" xmlns="" val="10002"/>
                  </a:ext>
                </a:extLst>
              </a:tr>
              <a:tr h="579126">
                <a:tc>
                  <a:txBody>
                    <a:bodyPr/>
                    <a:lstStyle/>
                    <a:p>
                      <a:r>
                        <a:rPr lang="en-IN" dirty="0"/>
                        <a:t>l</a:t>
                      </a:r>
                      <a:endParaRPr lang="en-US" dirty="0"/>
                    </a:p>
                  </a:txBody>
                  <a:tcPr/>
                </a:tc>
                <a:tc>
                  <a:txBody>
                    <a:bodyPr/>
                    <a:lstStyle/>
                    <a:p>
                      <a:r>
                        <a:rPr lang="en-IN" dirty="0"/>
                        <a:t>30</a:t>
                      </a:r>
                      <a:endParaRPr lang="en-US" dirty="0"/>
                    </a:p>
                  </a:txBody>
                  <a:tcPr/>
                </a:tc>
                <a:extLst>
                  <a:ext uri="{0D108BD9-81ED-4DB2-BD59-A6C34878D82A}">
                    <a16:rowId xmlns:a16="http://schemas.microsoft.com/office/drawing/2014/main" xmlns="" val="10003"/>
                  </a:ext>
                </a:extLst>
              </a:tr>
              <a:tr h="715060">
                <a:tc>
                  <a:txBody>
                    <a:bodyPr/>
                    <a:lstStyle/>
                    <a:p>
                      <a:r>
                        <a:rPr lang="en-IN" dirty="0"/>
                        <a:t>w</a:t>
                      </a:r>
                      <a:endParaRPr lang="en-US" dirty="0"/>
                    </a:p>
                  </a:txBody>
                  <a:tcPr/>
                </a:tc>
                <a:tc>
                  <a:txBody>
                    <a:bodyPr/>
                    <a:lstStyle/>
                    <a:p>
                      <a:r>
                        <a:rPr lang="en-IN" dirty="0"/>
                        <a:t>30</a:t>
                      </a:r>
                    </a:p>
                    <a:p>
                      <a:endParaRPr lang="en-US" dirty="0"/>
                    </a:p>
                  </a:txBody>
                  <a:tcPr/>
                </a:tc>
                <a:extLst>
                  <a:ext uri="{0D108BD9-81ED-4DB2-BD59-A6C34878D82A}">
                    <a16:rowId xmlns:a16="http://schemas.microsoft.com/office/drawing/2014/main" xmlns="" val="10004"/>
                  </a:ext>
                </a:extLst>
              </a:tr>
              <a:tr h="579126">
                <a:tc>
                  <a:txBody>
                    <a:bodyPr/>
                    <a:lstStyle/>
                    <a:p>
                      <a:r>
                        <a:rPr lang="en-IN" dirty="0"/>
                        <a:t>L1</a:t>
                      </a:r>
                      <a:endParaRPr lang="en-US" dirty="0"/>
                    </a:p>
                  </a:txBody>
                  <a:tcPr/>
                </a:tc>
                <a:tc>
                  <a:txBody>
                    <a:bodyPr/>
                    <a:lstStyle/>
                    <a:p>
                      <a:r>
                        <a:rPr lang="en-IN" dirty="0"/>
                        <a:t>140</a:t>
                      </a:r>
                      <a:endParaRPr lang="en-US" dirty="0"/>
                    </a:p>
                  </a:txBody>
                  <a:tcPr/>
                </a:tc>
                <a:extLst>
                  <a:ext uri="{0D108BD9-81ED-4DB2-BD59-A6C34878D82A}">
                    <a16:rowId xmlns:a16="http://schemas.microsoft.com/office/drawing/2014/main" xmlns="" val="10005"/>
                  </a:ext>
                </a:extLst>
              </a:tr>
              <a:tr h="579126">
                <a:tc>
                  <a:txBody>
                    <a:bodyPr/>
                    <a:lstStyle/>
                    <a:p>
                      <a:r>
                        <a:rPr lang="en-IN" dirty="0"/>
                        <a:t>W1</a:t>
                      </a:r>
                      <a:endParaRPr lang="en-US" dirty="0"/>
                    </a:p>
                  </a:txBody>
                  <a:tcPr/>
                </a:tc>
                <a:tc>
                  <a:txBody>
                    <a:bodyPr/>
                    <a:lstStyle/>
                    <a:p>
                      <a:r>
                        <a:rPr lang="en-IN" dirty="0"/>
                        <a:t>150</a:t>
                      </a:r>
                      <a:endParaRPr lang="en-US" dirty="0"/>
                    </a:p>
                  </a:txBody>
                  <a:tcPr/>
                </a:tc>
                <a:extLst>
                  <a:ext uri="{0D108BD9-81ED-4DB2-BD59-A6C34878D82A}">
                    <a16:rowId xmlns:a16="http://schemas.microsoft.com/office/drawing/2014/main" xmlns="" val="10006"/>
                  </a:ext>
                </a:extLst>
              </a:tr>
              <a:tr h="579126">
                <a:tc>
                  <a:txBody>
                    <a:bodyPr/>
                    <a:lstStyle/>
                    <a:p>
                      <a:r>
                        <a:rPr lang="en-IN" dirty="0" err="1"/>
                        <a:t>dx</a:t>
                      </a:r>
                      <a:endParaRPr lang="en-US" dirty="0"/>
                    </a:p>
                  </a:txBody>
                  <a:tcPr/>
                </a:tc>
                <a:tc>
                  <a:txBody>
                    <a:bodyPr/>
                    <a:lstStyle/>
                    <a:p>
                      <a:r>
                        <a:rPr lang="en-IN" dirty="0"/>
                        <a:t>15</a:t>
                      </a:r>
                      <a:endParaRPr lang="en-US" dirty="0"/>
                    </a:p>
                  </a:txBody>
                  <a:tcPr/>
                </a:tc>
                <a:extLst>
                  <a:ext uri="{0D108BD9-81ED-4DB2-BD59-A6C34878D82A}">
                    <a16:rowId xmlns:a16="http://schemas.microsoft.com/office/drawing/2014/main" xmlns="" val="10007"/>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571472" y="1357298"/>
            <a:ext cx="7353328" cy="5116654"/>
          </a:xfrm>
        </p:spPr>
        <p:txBody>
          <a:bodyPr/>
          <a:lstStyle/>
          <a:p>
            <a:r>
              <a:rPr lang="en-IN" dirty="0"/>
              <a:t>Dielectric </a:t>
            </a:r>
            <a:r>
              <a:rPr lang="en-IN" dirty="0" smtClean="0"/>
              <a:t>material: </a:t>
            </a:r>
            <a:r>
              <a:rPr lang="en-IN" dirty="0" err="1" smtClean="0"/>
              <a:t>Arlon</a:t>
            </a:r>
            <a:r>
              <a:rPr lang="en-IN" dirty="0" smtClean="0"/>
              <a:t> Cu Clad </a:t>
            </a:r>
            <a:r>
              <a:rPr lang="en-IN" dirty="0"/>
              <a:t>217 substrate</a:t>
            </a:r>
          </a:p>
          <a:p>
            <a:r>
              <a:rPr lang="en-IN" dirty="0"/>
              <a:t>Relative permittivity=2.2 mm</a:t>
            </a:r>
          </a:p>
          <a:p>
            <a:r>
              <a:rPr lang="en-IN" dirty="0"/>
              <a:t>Thickness h=1.5mm</a:t>
            </a:r>
          </a:p>
          <a:p>
            <a:r>
              <a:rPr lang="en-IN" dirty="0"/>
              <a:t>L1- length of the ground or substrate plane</a:t>
            </a:r>
          </a:p>
          <a:p>
            <a:r>
              <a:rPr lang="en-IN" dirty="0"/>
              <a:t>W1-width of the ground or substrate plane</a:t>
            </a:r>
          </a:p>
          <a:p>
            <a:r>
              <a:rPr lang="en-IN" dirty="0"/>
              <a:t>L-length of the patch antenna</a:t>
            </a:r>
          </a:p>
          <a:p>
            <a:r>
              <a:rPr lang="en-IN" dirty="0"/>
              <a:t>W-width of the patch antenna</a:t>
            </a:r>
          </a:p>
          <a:p>
            <a:r>
              <a:rPr lang="en-IN" dirty="0"/>
              <a:t>l-length of the fractal slot</a:t>
            </a:r>
          </a:p>
          <a:p>
            <a:r>
              <a:rPr lang="en-IN" dirty="0"/>
              <a:t>w- width of the fractal slot </a:t>
            </a:r>
          </a:p>
          <a:p>
            <a:r>
              <a:rPr lang="en-IN" dirty="0" err="1"/>
              <a:t>dx</a:t>
            </a:r>
            <a:r>
              <a:rPr lang="en-IN" dirty="0"/>
              <a:t>- radius of the slot</a:t>
            </a:r>
            <a:endParaRPr lang="en-US" dirty="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2074"/>
          </a:xfrm>
        </p:spPr>
        <p:txBody>
          <a:bodyPr/>
          <a:lstStyle/>
          <a:p>
            <a:r>
              <a:rPr lang="en-IN" b="1" dirty="0">
                <a:solidFill>
                  <a:schemeClr val="tx1">
                    <a:lumMod val="95000"/>
                    <a:lumOff val="5000"/>
                  </a:schemeClr>
                </a:solidFill>
                <a:latin typeface="Times New Roman" pitchFamily="18" charset="0"/>
                <a:cs typeface="Times New Roman" pitchFamily="18" charset="0"/>
              </a:rPr>
              <a:t>PROGRESS:</a:t>
            </a:r>
            <a:endParaRPr lang="en-US" b="1" dirty="0">
              <a:solidFill>
                <a:schemeClr val="tx1">
                  <a:lumMod val="95000"/>
                  <a:lumOff val="5000"/>
                </a:schemeClr>
              </a:solidFill>
              <a:latin typeface="Times New Roman" pitchFamily="18" charset="0"/>
              <a:cs typeface="Times New Roman" pitchFamily="18" charset="0"/>
            </a:endParaRPr>
          </a:p>
        </p:txBody>
      </p:sp>
      <p:sp>
        <p:nvSpPr>
          <p:cNvPr id="5" name="Content Placeholder 4"/>
          <p:cNvSpPr>
            <a:spLocks noGrp="1"/>
          </p:cNvSpPr>
          <p:nvPr>
            <p:ph sz="quarter" idx="1"/>
          </p:nvPr>
        </p:nvSpPr>
        <p:spPr>
          <a:xfrm>
            <a:off x="428596" y="857232"/>
            <a:ext cx="8215370" cy="5616720"/>
          </a:xfrm>
        </p:spPr>
        <p:txBody>
          <a:bodyPr>
            <a:normAutofit/>
          </a:bodyPr>
          <a:lstStyle/>
          <a:p>
            <a:r>
              <a:rPr lang="en-IN" sz="2200" u="sng" dirty="0" smtClean="0">
                <a:latin typeface="Times New Roman" pitchFamily="18" charset="0"/>
                <a:cs typeface="Times New Roman" pitchFamily="18" charset="0"/>
              </a:rPr>
              <a:t>CREATING A GROUND PLANE OF SIZE 140*150 mm^2</a:t>
            </a:r>
            <a:endParaRPr lang="en-US" sz="2200" u="sng" dirty="0">
              <a:latin typeface="Times New Roman" pitchFamily="18" charset="0"/>
              <a:cs typeface="Times New Roman" pitchFamily="18" charset="0"/>
            </a:endParaRPr>
          </a:p>
        </p:txBody>
      </p:sp>
      <p:pic>
        <p:nvPicPr>
          <p:cNvPr id="6" name="Picture 5"/>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1571604" y="2000240"/>
            <a:ext cx="5357850" cy="335758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00034" y="785794"/>
            <a:ext cx="7424766" cy="5688158"/>
          </a:xfrm>
        </p:spPr>
        <p:txBody>
          <a:bodyPr>
            <a:normAutofit/>
          </a:bodyPr>
          <a:lstStyle/>
          <a:p>
            <a:r>
              <a:rPr lang="en-IN" sz="2200" u="sng" dirty="0" smtClean="0">
                <a:latin typeface="Times New Roman" pitchFamily="18" charset="0"/>
                <a:cs typeface="Times New Roman" pitchFamily="18" charset="0"/>
              </a:rPr>
              <a:t>CREATING THE PATCH OVER THE SUBSTRATE</a:t>
            </a:r>
          </a:p>
          <a:p>
            <a:pPr>
              <a:buNone/>
            </a:pPr>
            <a:endParaRPr lang="en-US" sz="2200" u="sng" dirty="0">
              <a:latin typeface="Times New Roman" pitchFamily="18" charset="0"/>
              <a:cs typeface="Times New Roman" pitchFamily="18" charset="0"/>
            </a:endParaRPr>
          </a:p>
        </p:txBody>
      </p:sp>
      <p:pic>
        <p:nvPicPr>
          <p:cNvPr id="4" name="Picture 3">
            <a:extLst>
              <a:ext uri="{FF2B5EF4-FFF2-40B4-BE49-F238E27FC236}">
                <a16:creationId xmlns:lc="http://schemas.openxmlformats.org/drawingml/2006/lockedCanvas" xmlns:a16="http://schemas.microsoft.com/office/drawing/2014/main" xmlns:wps="http://schemas.microsoft.com/office/word/2010/wordprocessingShape"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id="{F2860E1A-F835-35EE-020F-FCB3DA8041E0}"/>
              </a:ext>
            </a:extLst>
          </p:cNvPr>
          <p:cNvPicPr/>
          <p:nvPr/>
        </p:nvPicPr>
        <p:blipFill rotWithShape="1">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l="31101" t="17826" r="12201" b="9131"/>
          <a:stretch/>
        </p:blipFill>
        <p:spPr>
          <a:xfrm>
            <a:off x="1071538" y="1928802"/>
            <a:ext cx="5715039" cy="338615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7467600" cy="439718"/>
          </a:xfrm>
        </p:spPr>
        <p:txBody>
          <a:bodyPr>
            <a:noAutofit/>
          </a:bodyPr>
          <a:lstStyle/>
          <a:p>
            <a:r>
              <a:rPr lang="en-IN" sz="2800" b="1" dirty="0" smtClean="0">
                <a:solidFill>
                  <a:schemeClr val="tx1">
                    <a:lumMod val="95000"/>
                    <a:lumOff val="5000"/>
                  </a:schemeClr>
                </a:solidFill>
                <a:latin typeface="Times New Roman" pitchFamily="18" charset="0"/>
                <a:cs typeface="Times New Roman" pitchFamily="18" charset="0"/>
              </a:rPr>
              <a:t>CREATION OF THE FRACTAL SLOT</a:t>
            </a:r>
            <a:endParaRPr lang="en-US" sz="2800" b="1" dirty="0">
              <a:solidFill>
                <a:schemeClr val="tx1">
                  <a:lumMod val="95000"/>
                  <a:lumOff val="5000"/>
                </a:schemeClr>
              </a:solidFill>
              <a:latin typeface="Times New Roman" pitchFamily="18" charset="0"/>
              <a:cs typeface="Times New Roman" pitchFamily="18" charset="0"/>
            </a:endParaRPr>
          </a:p>
        </p:txBody>
      </p:sp>
      <p:sp>
        <p:nvSpPr>
          <p:cNvPr id="5" name="Content Placeholder 4"/>
          <p:cNvSpPr>
            <a:spLocks noGrp="1"/>
          </p:cNvSpPr>
          <p:nvPr>
            <p:ph sz="quarter" idx="1"/>
          </p:nvPr>
        </p:nvSpPr>
        <p:spPr>
          <a:xfrm>
            <a:off x="214282" y="1071546"/>
            <a:ext cx="3900518" cy="5100654"/>
          </a:xfrm>
        </p:spPr>
        <p:txBody>
          <a:bodyPr>
            <a:normAutofit/>
          </a:bodyPr>
          <a:lstStyle/>
          <a:p>
            <a:r>
              <a:rPr lang="en-US" sz="2000" u="sng" dirty="0" smtClean="0">
                <a:solidFill>
                  <a:schemeClr val="tx2">
                    <a:lumMod val="50000"/>
                  </a:schemeClr>
                </a:solidFill>
                <a:latin typeface="Times New Roman" pitchFamily="18" charset="0"/>
                <a:cs typeface="Times New Roman" pitchFamily="18" charset="0"/>
              </a:rPr>
              <a:t>FRACTAL SLOT AFTER UNITING</a:t>
            </a:r>
            <a:endParaRPr lang="en-US" sz="2000" u="sng" dirty="0">
              <a:latin typeface="Times New Roman" pitchFamily="18" charset="0"/>
              <a:cs typeface="Times New Roman" pitchFamily="18" charset="0"/>
            </a:endParaRPr>
          </a:p>
        </p:txBody>
      </p:sp>
      <p:sp>
        <p:nvSpPr>
          <p:cNvPr id="6" name="Content Placeholder 5"/>
          <p:cNvSpPr>
            <a:spLocks noGrp="1"/>
          </p:cNvSpPr>
          <p:nvPr>
            <p:ph sz="quarter" idx="2"/>
          </p:nvPr>
        </p:nvSpPr>
        <p:spPr>
          <a:xfrm>
            <a:off x="4500562" y="1071546"/>
            <a:ext cx="3786214" cy="5100654"/>
          </a:xfrm>
        </p:spPr>
        <p:txBody>
          <a:bodyPr>
            <a:normAutofit/>
          </a:bodyPr>
          <a:lstStyle/>
          <a:p>
            <a:r>
              <a:rPr lang="en-IN" sz="2000" u="sng" dirty="0" smtClean="0">
                <a:latin typeface="Times New Roman" pitchFamily="18" charset="0"/>
                <a:cs typeface="Times New Roman" pitchFamily="18" charset="0"/>
              </a:rPr>
              <a:t>ITERATION1</a:t>
            </a:r>
            <a:endParaRPr lang="en-US" sz="2000" u="sng" dirty="0">
              <a:latin typeface="Times New Roman" pitchFamily="18" charset="0"/>
              <a:cs typeface="Times New Roman" pitchFamily="18" charset="0"/>
            </a:endParaRPr>
          </a:p>
        </p:txBody>
      </p:sp>
      <p:pic>
        <p:nvPicPr>
          <p:cNvPr id="7" name="Content Placeholder 4">
            <a:extLst>
              <a:ext uri="{FF2B5EF4-FFF2-40B4-BE49-F238E27FC236}">
                <a16:creationId xmlns:a16="http://schemas.microsoft.com/office/drawing/2014/main" xmlns="" id="{029D08E3-163E-8A99-9991-A9B89326B48F}"/>
              </a:ext>
            </a:extLst>
          </p:cNvPr>
          <p:cNvPicPr>
            <a:picLocks noChangeAspect="1"/>
          </p:cNvPicPr>
          <p:nvPr/>
        </p:nvPicPr>
        <p:blipFill rotWithShape="1">
          <a:blip r:embed="rId2">
            <a:extLst>
              <a:ext uri="{28A0092B-C50C-407E-A947-70E740481C1C}">
                <a14:useLocalDpi xmlns="" xmlns:a14="http://schemas.microsoft.com/office/drawing/2010/main" val="0"/>
              </a:ext>
            </a:extLst>
          </a:blip>
          <a:srcRect l="41109" t="18690" r="5133" b="13988"/>
          <a:stretch/>
        </p:blipFill>
        <p:spPr>
          <a:xfrm>
            <a:off x="285720" y="2357431"/>
            <a:ext cx="3857652" cy="3000395"/>
          </a:xfrm>
          <a:prstGeom prst="rect">
            <a:avLst/>
          </a:prstGeom>
        </p:spPr>
      </p:pic>
      <p:pic>
        <p:nvPicPr>
          <p:cNvPr id="8" name="Content Placeholder 4">
            <a:extLst>
              <a:ext uri="{FF2B5EF4-FFF2-40B4-BE49-F238E27FC236}">
                <a16:creationId xmlns:a16="http://schemas.microsoft.com/office/drawing/2014/main" xmlns="" id="{8D6563A8-D52E-B87A-F2AF-8BA117DCFFE5}"/>
              </a:ext>
            </a:extLst>
          </p:cNvPr>
          <p:cNvPicPr>
            <a:picLocks noChangeAspect="1"/>
          </p:cNvPicPr>
          <p:nvPr/>
        </p:nvPicPr>
        <p:blipFill rotWithShape="1">
          <a:blip r:embed="rId3">
            <a:extLst>
              <a:ext uri="{28A0092B-C50C-407E-A947-70E740481C1C}">
                <a14:useLocalDpi xmlns="" xmlns:a14="http://schemas.microsoft.com/office/drawing/2010/main" val="0"/>
              </a:ext>
            </a:extLst>
          </a:blip>
          <a:srcRect l="45795" t="21887" r="4593" b="7462"/>
          <a:stretch/>
        </p:blipFill>
        <p:spPr>
          <a:xfrm>
            <a:off x="5000628" y="2357430"/>
            <a:ext cx="3429024" cy="292895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457200" y="1142984"/>
            <a:ext cx="3657600" cy="5029216"/>
          </a:xfrm>
        </p:spPr>
        <p:txBody>
          <a:bodyPr>
            <a:normAutofit/>
          </a:bodyPr>
          <a:lstStyle/>
          <a:p>
            <a:r>
              <a:rPr lang="en-IN" sz="2000" u="sng" dirty="0" smtClean="0">
                <a:latin typeface="Times New Roman" pitchFamily="18" charset="0"/>
                <a:cs typeface="Times New Roman" pitchFamily="18" charset="0"/>
              </a:rPr>
              <a:t>2</a:t>
            </a:r>
            <a:r>
              <a:rPr lang="en-IN" sz="2000" u="sng" baseline="30000" dirty="0" smtClean="0">
                <a:latin typeface="Times New Roman" pitchFamily="18" charset="0"/>
                <a:cs typeface="Times New Roman" pitchFamily="18" charset="0"/>
              </a:rPr>
              <a:t>ND</a:t>
            </a:r>
            <a:r>
              <a:rPr lang="en-IN" sz="2000" u="sng" dirty="0" smtClean="0">
                <a:latin typeface="Times New Roman" pitchFamily="18" charset="0"/>
                <a:cs typeface="Times New Roman" pitchFamily="18" charset="0"/>
              </a:rPr>
              <a:t> ITERATION</a:t>
            </a:r>
            <a:endParaRPr lang="en-US" sz="2000" u="sng" dirty="0">
              <a:latin typeface="Times New Roman" pitchFamily="18" charset="0"/>
              <a:cs typeface="Times New Roman" pitchFamily="18" charset="0"/>
            </a:endParaRPr>
          </a:p>
        </p:txBody>
      </p:sp>
      <p:sp>
        <p:nvSpPr>
          <p:cNvPr id="6" name="Content Placeholder 5"/>
          <p:cNvSpPr>
            <a:spLocks noGrp="1"/>
          </p:cNvSpPr>
          <p:nvPr>
            <p:ph sz="quarter" idx="2"/>
          </p:nvPr>
        </p:nvSpPr>
        <p:spPr>
          <a:xfrm>
            <a:off x="4270248" y="1142984"/>
            <a:ext cx="3657600" cy="5029216"/>
          </a:xfrm>
        </p:spPr>
        <p:txBody>
          <a:bodyPr>
            <a:normAutofit/>
          </a:bodyPr>
          <a:lstStyle/>
          <a:p>
            <a:r>
              <a:rPr lang="en-IN" sz="2000" u="sng" dirty="0" smtClean="0">
                <a:latin typeface="Times New Roman" pitchFamily="18" charset="0"/>
                <a:cs typeface="Times New Roman" pitchFamily="18" charset="0"/>
              </a:rPr>
              <a:t>AFTER FURTHER ITERATIONS</a:t>
            </a:r>
            <a:endParaRPr lang="en-US" sz="2000" u="sng"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xmlns="" id="{9FE72E65-86D8-6295-C780-92F2DCCCCF42}"/>
              </a:ext>
            </a:extLst>
          </p:cNvPr>
          <p:cNvPicPr>
            <a:picLocks noChangeAspect="1"/>
          </p:cNvPicPr>
          <p:nvPr/>
        </p:nvPicPr>
        <p:blipFill rotWithShape="1">
          <a:blip r:embed="rId2">
            <a:extLst>
              <a:ext uri="{28A0092B-C50C-407E-A947-70E740481C1C}">
                <a14:useLocalDpi xmlns="" xmlns:a14="http://schemas.microsoft.com/office/drawing/2010/main" val="0"/>
              </a:ext>
            </a:extLst>
          </a:blip>
          <a:srcRect l="43311" t="12606" r="10227" b="10358"/>
          <a:stretch/>
        </p:blipFill>
        <p:spPr>
          <a:xfrm>
            <a:off x="357158" y="2285992"/>
            <a:ext cx="3571900" cy="3143272"/>
          </a:xfrm>
          <a:prstGeom prst="rect">
            <a:avLst/>
          </a:prstGeom>
        </p:spPr>
      </p:pic>
      <p:pic>
        <p:nvPicPr>
          <p:cNvPr id="8" name="Content Placeholder 4">
            <a:extLst>
              <a:ext uri="{FF2B5EF4-FFF2-40B4-BE49-F238E27FC236}">
                <a16:creationId xmlns:a16="http://schemas.microsoft.com/office/drawing/2014/main" xmlns="" id="{1FD01FDB-646B-2833-40B8-EB4E206467B6}"/>
              </a:ext>
            </a:extLst>
          </p:cNvPr>
          <p:cNvPicPr>
            <a:picLocks noChangeAspect="1"/>
          </p:cNvPicPr>
          <p:nvPr/>
        </p:nvPicPr>
        <p:blipFill rotWithShape="1">
          <a:blip r:embed="rId3">
            <a:extLst>
              <a:ext uri="{28A0092B-C50C-407E-A947-70E740481C1C}">
                <a14:useLocalDpi xmlns="" xmlns:a14="http://schemas.microsoft.com/office/drawing/2010/main" val="0"/>
              </a:ext>
            </a:extLst>
          </a:blip>
          <a:srcRect l="41338" t="14680" r="7031" b="5392"/>
          <a:stretch/>
        </p:blipFill>
        <p:spPr>
          <a:xfrm>
            <a:off x="4857752" y="2285992"/>
            <a:ext cx="3571900" cy="314327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EFAD4A-3DB5-A8E5-12C6-207418061466}"/>
              </a:ext>
            </a:extLst>
          </p:cNvPr>
          <p:cNvSpPr>
            <a:spLocks noGrp="1"/>
          </p:cNvSpPr>
          <p:nvPr>
            <p:ph type="title"/>
          </p:nvPr>
        </p:nvSpPr>
        <p:spPr>
          <a:xfrm>
            <a:off x="539552" y="548680"/>
            <a:ext cx="7385248" cy="665742"/>
          </a:xfrm>
        </p:spPr>
        <p:txBody>
          <a:bodyPr>
            <a:normAutofit/>
          </a:bodyPr>
          <a:lstStyle/>
          <a:p>
            <a:r>
              <a:rPr lang="en-US" sz="2800" u="sng" dirty="0">
                <a:solidFill>
                  <a:schemeClr val="tx1">
                    <a:lumMod val="95000"/>
                    <a:lumOff val="5000"/>
                  </a:schemeClr>
                </a:solidFill>
                <a:latin typeface="Times New Roman" pitchFamily="18" charset="0"/>
                <a:cs typeface="Times New Roman" pitchFamily="18" charset="0"/>
              </a:rPr>
              <a:t>PATCH WITH FRACTAL SLOT</a:t>
            </a:r>
          </a:p>
        </p:txBody>
      </p:sp>
      <p:pic>
        <p:nvPicPr>
          <p:cNvPr id="5" name="Content Placeholder 4">
            <a:extLst>
              <a:ext uri="{FF2B5EF4-FFF2-40B4-BE49-F238E27FC236}">
                <a16:creationId xmlns:a16="http://schemas.microsoft.com/office/drawing/2014/main" xmlns="" id="{E3496AD1-4EE0-2CA8-95DB-20769C626606}"/>
              </a:ext>
            </a:extLst>
          </p:cNvPr>
          <p:cNvPicPr>
            <a:picLocks noGrp="1" noChangeAspect="1"/>
          </p:cNvPicPr>
          <p:nvPr>
            <p:ph sz="quarter" idx="1"/>
          </p:nvPr>
        </p:nvPicPr>
        <p:blipFill>
          <a:blip r:embed="rId2">
            <a:extLst>
              <a:ext uri="{28A0092B-C50C-407E-A947-70E740481C1C}">
                <a14:useLocalDpi xmlns="" xmlns:a14="http://schemas.microsoft.com/office/drawing/2010/main" val="0"/>
              </a:ext>
            </a:extLst>
          </a:blip>
          <a:srcRect l="34375" t="19602" r="14212" b="14052"/>
          <a:stretch>
            <a:fillRect/>
          </a:stretch>
        </p:blipFill>
        <p:spPr>
          <a:xfrm>
            <a:off x="1142976" y="1785926"/>
            <a:ext cx="5857916" cy="3571900"/>
          </a:xfrm>
        </p:spPr>
      </p:pic>
    </p:spTree>
    <p:extLst>
      <p:ext uri="{BB962C8B-B14F-4D97-AF65-F5344CB8AC3E}">
        <p14:creationId xmlns="" xmlns:p14="http://schemas.microsoft.com/office/powerpoint/2010/main" val="14431889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E6CF08-0AD0-A1F0-A4AF-924900F0A285}"/>
              </a:ext>
            </a:extLst>
          </p:cNvPr>
          <p:cNvSpPr>
            <a:spLocks noGrp="1"/>
          </p:cNvSpPr>
          <p:nvPr>
            <p:ph type="title"/>
          </p:nvPr>
        </p:nvSpPr>
        <p:spPr>
          <a:xfrm>
            <a:off x="457200" y="548680"/>
            <a:ext cx="7467600" cy="379990"/>
          </a:xfrm>
        </p:spPr>
        <p:txBody>
          <a:bodyPr>
            <a:normAutofit fontScale="90000"/>
          </a:bodyPr>
          <a:lstStyle/>
          <a:p>
            <a:r>
              <a:rPr lang="en-US" b="1" dirty="0" smtClean="0">
                <a:solidFill>
                  <a:schemeClr val="tx1">
                    <a:lumMod val="95000"/>
                    <a:lumOff val="5000"/>
                  </a:schemeClr>
                </a:solidFill>
              </a:rPr>
              <a:t>PROVIDING DIFFERENTIAL </a:t>
            </a:r>
            <a:r>
              <a:rPr lang="en-US" b="1" dirty="0">
                <a:solidFill>
                  <a:schemeClr val="tx1">
                    <a:lumMod val="95000"/>
                    <a:lumOff val="5000"/>
                  </a:schemeClr>
                </a:solidFill>
              </a:rPr>
              <a:t>FEED</a:t>
            </a:r>
          </a:p>
        </p:txBody>
      </p:sp>
      <p:sp>
        <p:nvSpPr>
          <p:cNvPr id="3" name="Content Placeholder 2">
            <a:extLst>
              <a:ext uri="{FF2B5EF4-FFF2-40B4-BE49-F238E27FC236}">
                <a16:creationId xmlns:a16="http://schemas.microsoft.com/office/drawing/2014/main" xmlns="" id="{F9D17641-82CA-D970-87BC-CDE8078057F3}"/>
              </a:ext>
            </a:extLst>
          </p:cNvPr>
          <p:cNvSpPr>
            <a:spLocks noGrp="1"/>
          </p:cNvSpPr>
          <p:nvPr>
            <p:ph sz="quarter" idx="1"/>
          </p:nvPr>
        </p:nvSpPr>
        <p:spPr>
          <a:xfrm>
            <a:off x="457200" y="1071546"/>
            <a:ext cx="7467600" cy="5402406"/>
          </a:xfrm>
        </p:spPr>
        <p:txBody>
          <a:bodyPr>
            <a:normAutofit/>
          </a:bodyPr>
          <a:lstStyle/>
          <a:p>
            <a:pPr marL="0" indent="0">
              <a:buNone/>
            </a:pPr>
            <a:r>
              <a:rPr lang="en-US" u="sng" dirty="0" smtClean="0">
                <a:latin typeface="Times New Roman" pitchFamily="18" charset="0"/>
                <a:cs typeface="Times New Roman" pitchFamily="18" charset="0"/>
              </a:rPr>
              <a:t>FRONT </a:t>
            </a:r>
            <a:r>
              <a:rPr lang="en-US" u="sng" dirty="0">
                <a:latin typeface="Times New Roman" pitchFamily="18" charset="0"/>
                <a:cs typeface="Times New Roman" pitchFamily="18" charset="0"/>
              </a:rPr>
              <a:t>VIEW </a:t>
            </a:r>
            <a:r>
              <a:rPr lang="en-US" u="sng" dirty="0" smtClean="0">
                <a:latin typeface="Times New Roman" pitchFamily="18" charset="0"/>
                <a:cs typeface="Times New Roman" pitchFamily="18" charset="0"/>
              </a:rPr>
              <a:t>:</a:t>
            </a:r>
            <a:endParaRPr lang="en-US" u="sng" dirty="0">
              <a:latin typeface="Times New Roman" pitchFamily="18" charset="0"/>
              <a:cs typeface="Times New Roman" pitchFamily="18" charset="0"/>
            </a:endParaRPr>
          </a:p>
        </p:txBody>
      </p:sp>
      <p:pic>
        <p:nvPicPr>
          <p:cNvPr id="6" name="Picture 5" descr="differential feed.png"/>
          <p:cNvPicPr>
            <a:picLocks noChangeAspect="1"/>
          </p:cNvPicPr>
          <p:nvPr/>
        </p:nvPicPr>
        <p:blipFill>
          <a:blip r:embed="rId2"/>
          <a:stretch>
            <a:fillRect/>
          </a:stretch>
        </p:blipFill>
        <p:spPr>
          <a:xfrm>
            <a:off x="928662" y="2071678"/>
            <a:ext cx="6858048" cy="3786214"/>
          </a:xfrm>
          <a:prstGeom prst="rect">
            <a:avLst/>
          </a:prstGeom>
        </p:spPr>
      </p:pic>
    </p:spTree>
    <p:extLst>
      <p:ext uri="{BB962C8B-B14F-4D97-AF65-F5344CB8AC3E}">
        <p14:creationId xmlns="" xmlns:p14="http://schemas.microsoft.com/office/powerpoint/2010/main" val="2443770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7467600" cy="582618"/>
          </a:xfrm>
        </p:spPr>
        <p:txBody>
          <a:bodyPr>
            <a:normAutofit/>
          </a:bodyPr>
          <a:lstStyle/>
          <a:p>
            <a:r>
              <a:rPr lang="en-IN" sz="2800" b="1" dirty="0">
                <a:solidFill>
                  <a:schemeClr val="bg2">
                    <a:lumMod val="10000"/>
                  </a:schemeClr>
                </a:solidFill>
                <a:latin typeface="Times New Roman" pitchFamily="18" charset="0"/>
                <a:cs typeface="Times New Roman" pitchFamily="18" charset="0"/>
              </a:rPr>
              <a:t>VALIDATION CHECK</a:t>
            </a:r>
            <a:endParaRPr lang="en-US" sz="2800" b="1" dirty="0">
              <a:solidFill>
                <a:schemeClr val="bg2">
                  <a:lumMod val="10000"/>
                </a:schemeClr>
              </a:solidFill>
              <a:latin typeface="Times New Roman" pitchFamily="18" charset="0"/>
              <a:cs typeface="Times New Roman" pitchFamily="18" charset="0"/>
            </a:endParaRPr>
          </a:p>
        </p:txBody>
      </p:sp>
      <p:pic>
        <p:nvPicPr>
          <p:cNvPr id="6" name="Content Placeholder 5" descr="validation check.png"/>
          <p:cNvPicPr>
            <a:picLocks noGrp="1" noChangeAspect="1"/>
          </p:cNvPicPr>
          <p:nvPr>
            <p:ph sz="quarter" idx="1"/>
          </p:nvPr>
        </p:nvPicPr>
        <p:blipFill>
          <a:blip r:embed="rId2"/>
          <a:stretch>
            <a:fillRect/>
          </a:stretch>
        </p:blipFill>
        <p:spPr>
          <a:xfrm>
            <a:off x="571472" y="1571612"/>
            <a:ext cx="7353328" cy="4143404"/>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499850" y="1002902"/>
            <a:ext cx="7397881" cy="481830"/>
          </a:xfrm>
        </p:spPr>
        <p:txBody>
          <a:bodyPr>
            <a:normAutofit fontScale="90000"/>
          </a:bodyPr>
          <a:lstStyle/>
          <a:p>
            <a:r>
              <a:rPr lang="en-US" sz="2400" cap="none" dirty="0" smtClean="0">
                <a:solidFill>
                  <a:schemeClr val="tx1"/>
                </a:solidFill>
                <a:latin typeface="Times New Roman" pitchFamily="18" charset="0"/>
                <a:ea typeface="Times New Roman" pitchFamily="18" charset="0"/>
                <a:cs typeface="Times New Roman" pitchFamily="18" charset="0"/>
              </a:rPr>
              <a:t>Return loss is found to be -16.22 at the frequency of 2.02GHz</a:t>
            </a:r>
            <a:endParaRPr lang="en-US" sz="2400" b="1" dirty="0">
              <a:latin typeface="Times New Roman" pitchFamily="18" charset="0"/>
              <a:cs typeface="Times New Roman" pitchFamily="18" charset="0"/>
            </a:endParaRPr>
          </a:p>
        </p:txBody>
      </p:sp>
      <p:pic>
        <p:nvPicPr>
          <p:cNvPr id="6" name="Content Placeholder 5" descr="s parameter.png"/>
          <p:cNvPicPr>
            <a:picLocks noGrp="1" noChangeAspect="1"/>
          </p:cNvPicPr>
          <p:nvPr>
            <p:ph sz="quarter" idx="1"/>
          </p:nvPr>
        </p:nvPicPr>
        <p:blipFill>
          <a:blip r:embed="rId2"/>
          <a:stretch>
            <a:fillRect/>
          </a:stretch>
        </p:blipFill>
        <p:spPr>
          <a:xfrm>
            <a:off x="500034" y="1785926"/>
            <a:ext cx="7467600" cy="4357718"/>
          </a:xfrm>
        </p:spPr>
      </p:pic>
      <p:sp>
        <p:nvSpPr>
          <p:cNvPr id="10" name="Rectangle 1"/>
          <p:cNvSpPr>
            <a:spLocks noChangeArrowheads="1"/>
          </p:cNvSpPr>
          <p:nvPr/>
        </p:nvSpPr>
        <p:spPr bwMode="auto">
          <a:xfrm>
            <a:off x="500034" y="357166"/>
            <a:ext cx="3571900"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IN" sz="2800" b="1" dirty="0" smtClean="0">
                <a:latin typeface="Times New Roman" pitchFamily="18" charset="0"/>
                <a:cs typeface="Times New Roman" pitchFamily="18" charset="0"/>
              </a:rPr>
              <a:t> RETURN LOSS</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54032"/>
          </a:xfrm>
        </p:spPr>
        <p:txBody>
          <a:bodyPr>
            <a:normAutofit/>
          </a:bodyPr>
          <a:lstStyle/>
          <a:p>
            <a:r>
              <a:rPr lang="en-IN" sz="2800" b="1" dirty="0" smtClean="0">
                <a:solidFill>
                  <a:schemeClr val="tx1">
                    <a:lumMod val="95000"/>
                    <a:lumOff val="5000"/>
                  </a:schemeClr>
                </a:solidFill>
                <a:latin typeface="Times New Roman" pitchFamily="18" charset="0"/>
                <a:cs typeface="Times New Roman" pitchFamily="18" charset="0"/>
              </a:rPr>
              <a:t>VSWR</a:t>
            </a:r>
            <a:endParaRPr lang="en-US" sz="2800" b="1" dirty="0">
              <a:solidFill>
                <a:schemeClr val="tx1">
                  <a:lumMod val="95000"/>
                  <a:lumOff val="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142984"/>
            <a:ext cx="7467600" cy="5330968"/>
          </a:xfrm>
        </p:spPr>
        <p:txBody>
          <a:bodyPr>
            <a:normAutofit/>
          </a:bodyPr>
          <a:lstStyle/>
          <a:p>
            <a:pPr>
              <a:buNone/>
            </a:pPr>
            <a:r>
              <a:rPr lang="en-IN" sz="2200" dirty="0" smtClean="0"/>
              <a:t>VSWR is  found to be 2.38 at 2.02GHz.</a:t>
            </a:r>
            <a:endParaRPr lang="en-US" sz="2200" dirty="0"/>
          </a:p>
        </p:txBody>
      </p:sp>
      <p:pic>
        <p:nvPicPr>
          <p:cNvPr id="4" name="Picture 3" descr="Screenshot (578).png"/>
          <p:cNvPicPr/>
          <p:nvPr/>
        </p:nvPicPr>
        <p:blipFill>
          <a:blip r:embed="rId2">
            <a:lum bright="-10000" contrast="30000"/>
          </a:blip>
          <a:srcRect t="18702" r="10526" b="10390"/>
          <a:stretch>
            <a:fillRect/>
          </a:stretch>
        </p:blipFill>
        <p:spPr>
          <a:xfrm>
            <a:off x="357158" y="1714488"/>
            <a:ext cx="7715304" cy="464346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7467600" cy="796908"/>
          </a:xfrm>
        </p:spPr>
        <p:txBody>
          <a:bodyPr>
            <a:normAutofit/>
          </a:bodyPr>
          <a:lstStyle/>
          <a:p>
            <a:r>
              <a:rPr lang="en-IN" sz="2800" b="1" dirty="0" smtClean="0">
                <a:solidFill>
                  <a:schemeClr val="tx1">
                    <a:lumMod val="95000"/>
                    <a:lumOff val="5000"/>
                  </a:schemeClr>
                </a:solidFill>
                <a:latin typeface="Times New Roman" pitchFamily="18" charset="0"/>
                <a:cs typeface="Times New Roman" pitchFamily="18" charset="0"/>
              </a:rPr>
              <a:t>GAIN</a:t>
            </a:r>
            <a:endParaRPr lang="en-US" sz="2800" b="1" dirty="0">
              <a:solidFill>
                <a:schemeClr val="tx1">
                  <a:lumMod val="95000"/>
                  <a:lumOff val="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214422"/>
            <a:ext cx="7467600" cy="5259530"/>
          </a:xfrm>
        </p:spPr>
        <p:txBody>
          <a:bodyPr/>
          <a:lstStyle/>
          <a:p>
            <a:pPr>
              <a:buNone/>
            </a:pPr>
            <a:r>
              <a:rPr lang="en-IN" dirty="0" smtClean="0"/>
              <a:t>Gain of the antenna is found to be around 8.9 </a:t>
            </a:r>
            <a:endParaRPr lang="en-US" dirty="0"/>
          </a:p>
        </p:txBody>
      </p:sp>
      <p:pic>
        <p:nvPicPr>
          <p:cNvPr id="4" name="Picture 3" descr="Screenshot (579).png"/>
          <p:cNvPicPr/>
          <p:nvPr/>
        </p:nvPicPr>
        <p:blipFill>
          <a:blip r:embed="rId2"/>
          <a:srcRect l="22538" t="19629" r="3134" b="14854"/>
          <a:stretch>
            <a:fillRect/>
          </a:stretch>
        </p:blipFill>
        <p:spPr>
          <a:xfrm>
            <a:off x="357158" y="2252662"/>
            <a:ext cx="8429684" cy="353379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39718"/>
          </a:xfrm>
        </p:spPr>
        <p:txBody>
          <a:bodyPr>
            <a:normAutofit fontScale="90000"/>
          </a:bodyPr>
          <a:lstStyle/>
          <a:p>
            <a:r>
              <a:rPr lang="en-IN" dirty="0" smtClean="0"/>
              <a:t/>
            </a:r>
            <a:br>
              <a:rPr lang="en-IN" dirty="0" smtClean="0"/>
            </a:br>
            <a:r>
              <a:rPr lang="en-IN" b="1" dirty="0" smtClean="0">
                <a:solidFill>
                  <a:schemeClr val="tx1">
                    <a:lumMod val="95000"/>
                    <a:lumOff val="5000"/>
                  </a:schemeClr>
                </a:solidFill>
                <a:latin typeface="Times New Roman" pitchFamily="18" charset="0"/>
                <a:cs typeface="Times New Roman" pitchFamily="18" charset="0"/>
              </a:rPr>
              <a:t>RADIATION PATTERN</a:t>
            </a:r>
            <a:endParaRPr lang="en-US" b="1" dirty="0">
              <a:solidFill>
                <a:schemeClr val="tx1">
                  <a:lumMod val="95000"/>
                  <a:lumOff val="5000"/>
                </a:schemeClr>
              </a:solidFill>
              <a:latin typeface="Times New Roman" pitchFamily="18" charset="0"/>
              <a:cs typeface="Times New Roman" pitchFamily="18" charset="0"/>
            </a:endParaRPr>
          </a:p>
        </p:txBody>
      </p:sp>
      <p:pic>
        <p:nvPicPr>
          <p:cNvPr id="4" name="Content Placeholder 3"/>
          <p:cNvPicPr>
            <a:picLocks noGrp="1"/>
          </p:cNvPicPr>
          <p:nvPr>
            <p:ph sz="quarter" idx="1"/>
          </p:nvPr>
        </p:nvPicPr>
        <p:blipFill rotWithShape="1">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l="31182" t="16557" r="17595" b="8750"/>
          <a:stretch/>
        </p:blipFill>
        <p:spPr bwMode="auto">
          <a:xfrm>
            <a:off x="1220123" y="1600200"/>
            <a:ext cx="5941754" cy="4873625"/>
          </a:xfrm>
          <a:prstGeom prst="rect">
            <a:avLst/>
          </a:prstGeom>
          <a:ln>
            <a:noFill/>
          </a:ln>
          <a:extLst>
            <a:ext uri="{53640926-AAD7-44D8-BBD7-CCE9431645EC}">
              <a14:shadowObscured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642918"/>
            <a:ext cx="7496204" cy="571504"/>
          </a:xfrm>
        </p:spPr>
        <p:txBody>
          <a:bodyPr/>
          <a:lstStyle/>
          <a:p>
            <a:r>
              <a:rPr lang="en-IN" b="1" dirty="0" smtClean="0">
                <a:solidFill>
                  <a:schemeClr val="tx1">
                    <a:lumMod val="95000"/>
                    <a:lumOff val="5000"/>
                  </a:schemeClr>
                </a:solidFill>
                <a:latin typeface="Times New Roman" pitchFamily="18" charset="0"/>
                <a:cs typeface="Times New Roman" pitchFamily="18" charset="0"/>
              </a:rPr>
              <a:t>CONCLUSION</a:t>
            </a:r>
            <a:endParaRPr lang="en-US" b="1" dirty="0">
              <a:solidFill>
                <a:schemeClr val="tx1">
                  <a:lumMod val="95000"/>
                  <a:lumOff val="5000"/>
                </a:schemeClr>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lvl="0" algn="just">
              <a:lnSpc>
                <a:spcPct val="150000"/>
              </a:lnSpc>
            </a:pPr>
            <a:r>
              <a:rPr lang="en-US" sz="2300" dirty="0" smtClean="0">
                <a:latin typeface="Times New Roman" pitchFamily="18" charset="0"/>
                <a:ea typeface="Times New Roman" pitchFamily="18" charset="0"/>
                <a:cs typeface="Times New Roman" pitchFamily="18" charset="0"/>
              </a:rPr>
              <a:t>Thus, we obtained the operating </a:t>
            </a:r>
            <a:r>
              <a:rPr lang="en-US" sz="2300" dirty="0" smtClean="0">
                <a:latin typeface="Times New Roman" pitchFamily="18" charset="0"/>
                <a:ea typeface="Times New Roman" pitchFamily="18" charset="0"/>
                <a:cs typeface="Times New Roman" pitchFamily="18" charset="0"/>
              </a:rPr>
              <a:t>frequency </a:t>
            </a:r>
            <a:r>
              <a:rPr lang="en-US" sz="2300" dirty="0" smtClean="0">
                <a:latin typeface="Times New Roman" pitchFamily="18" charset="0"/>
                <a:ea typeface="Times New Roman" pitchFamily="18" charset="0"/>
                <a:cs typeface="Times New Roman" pitchFamily="18" charset="0"/>
              </a:rPr>
              <a:t>as 2.02 GHz for the designed antenna because  there is a sharp drop in 2.02GHZ and it will not perform well in other frequencies. After stimulation the obtained results are Return loss is found to be -16.22,VSWR as 2.38 and gain as 8.9. The antenna is designed through multiple iterations process through result analysis and necessary modification. The measured and simulated results of the antenna are good.</a:t>
            </a:r>
            <a:endParaRPr lang="en-US" sz="2300" dirty="0" smtClean="0">
              <a:latin typeface="Times New Roman" pitchFamily="18" charset="0"/>
              <a:cs typeface="Times New Roman" pitchFamily="18" charset="0"/>
            </a:endParaRPr>
          </a:p>
          <a:p>
            <a:pPr>
              <a:lnSpc>
                <a:spcPct val="150000"/>
              </a:lnSpc>
            </a:pPr>
            <a:endParaRPr lang="en-US" sz="23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42918"/>
            <a:ext cx="7467600" cy="5831034"/>
          </a:xfrm>
        </p:spPr>
        <p:txBody>
          <a:bodyPr>
            <a:normAutofit/>
          </a:bodyPr>
          <a:lstStyle/>
          <a:p>
            <a:pPr>
              <a:buNone/>
            </a:pPr>
            <a:r>
              <a:rPr lang="en-IN" b="1" dirty="0">
                <a:latin typeface="Times New Roman" pitchFamily="18" charset="0"/>
                <a:cs typeface="Times New Roman" pitchFamily="18" charset="0"/>
              </a:rPr>
              <a:t>REFERENCES</a:t>
            </a:r>
          </a:p>
          <a:p>
            <a:r>
              <a:rPr lang="en-IN"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P. </a:t>
            </a:r>
            <a:r>
              <a:rPr lang="en-US" sz="2000" dirty="0" err="1">
                <a:latin typeface="Times New Roman" pitchFamily="18" charset="0"/>
                <a:cs typeface="Times New Roman" pitchFamily="18" charset="0"/>
              </a:rPr>
              <a:t>Juyal</a:t>
            </a:r>
            <a:r>
              <a:rPr lang="en-US" sz="2000" dirty="0">
                <a:latin typeface="Times New Roman" pitchFamily="18" charset="0"/>
                <a:cs typeface="Times New Roman" pitchFamily="18" charset="0"/>
              </a:rPr>
              <a:t> and L. </a:t>
            </a:r>
            <a:r>
              <a:rPr lang="en-US" sz="2000" dirty="0" err="1">
                <a:latin typeface="Times New Roman" pitchFamily="18" charset="0"/>
                <a:cs typeface="Times New Roman" pitchFamily="18" charset="0"/>
              </a:rPr>
              <a:t>Shafai</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Sidelobe</a:t>
            </a:r>
            <a:r>
              <a:rPr lang="en-US" sz="2000" dirty="0">
                <a:latin typeface="Times New Roman" pitchFamily="18" charset="0"/>
                <a:cs typeface="Times New Roman" pitchFamily="18" charset="0"/>
              </a:rPr>
              <a:t> reduction of TM 12 mode of circular patch via </a:t>
            </a:r>
            <a:r>
              <a:rPr lang="en-US" sz="2000" dirty="0" err="1">
                <a:latin typeface="Times New Roman" pitchFamily="18" charset="0"/>
                <a:cs typeface="Times New Roman" pitchFamily="18" charset="0"/>
              </a:rPr>
              <a:t>nonresonant</a:t>
            </a:r>
            <a:r>
              <a:rPr lang="en-US" sz="2000" dirty="0">
                <a:latin typeface="Times New Roman" pitchFamily="18" charset="0"/>
                <a:cs typeface="Times New Roman" pitchFamily="18" charset="0"/>
              </a:rPr>
              <a:t> narrow slot ", </a:t>
            </a:r>
            <a:r>
              <a:rPr lang="en-US" sz="2000" i="1" dirty="0">
                <a:latin typeface="Times New Roman" pitchFamily="18" charset="0"/>
                <a:cs typeface="Times New Roman" pitchFamily="18" charset="0"/>
              </a:rPr>
              <a:t>IEEE Trans.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64, no. 8, pp. 3361-3369, Aug. 2016.</a:t>
            </a:r>
            <a:r>
              <a:rPr lang="en-US" sz="2000" dirty="0">
                <a:latin typeface="Times New Roman" pitchFamily="18" charset="0"/>
                <a:cs typeface="Times New Roman" pitchFamily="18" charset="0"/>
                <a:hlinkClick r:id="rId2"/>
              </a:rPr>
              <a:t> </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Z. Ahmed, M. M. Ahmed and M. B. </a:t>
            </a:r>
            <a:r>
              <a:rPr lang="en-US" sz="2000" dirty="0" err="1">
                <a:latin typeface="Times New Roman" pitchFamily="18" charset="0"/>
                <a:cs typeface="Times New Roman" pitchFamily="18" charset="0"/>
              </a:rPr>
              <a:t>Ihsan</a:t>
            </a:r>
            <a:r>
              <a:rPr lang="en-US" sz="2000" dirty="0">
                <a:latin typeface="Times New Roman" pitchFamily="18" charset="0"/>
                <a:cs typeface="Times New Roman" pitchFamily="18" charset="0"/>
              </a:rPr>
              <a:t>, "A novel differential fed high gain patch antenna using resonant slot loading", </a:t>
            </a:r>
            <a:r>
              <a:rPr lang="en-US" sz="2000" i="1" dirty="0" err="1">
                <a:latin typeface="Times New Roman" pitchFamily="18" charset="0"/>
                <a:cs typeface="Times New Roman" pitchFamily="18" charset="0"/>
              </a:rPr>
              <a:t>Radioengineering</a:t>
            </a:r>
            <a:r>
              <a:rPr lang="en-US" sz="2000" dirty="0">
                <a:latin typeface="Times New Roman" pitchFamily="18" charset="0"/>
                <a:cs typeface="Times New Roman" pitchFamily="18" charset="0"/>
              </a:rPr>
              <a:t>, vol. 27, pp. 662-670, Sep. 2018.</a:t>
            </a:r>
          </a:p>
          <a:p>
            <a:r>
              <a:rPr lang="en-US" sz="2000" dirty="0">
                <a:latin typeface="Times New Roman" pitchFamily="18" charset="0"/>
                <a:cs typeface="Times New Roman" pitchFamily="18" charset="0"/>
              </a:rPr>
              <a:t>X. Zhang and L. Zhu, " Dual-band high-gain differentially fed circular patch antenna working in TM 11 and TM 12 modes ", </a:t>
            </a:r>
            <a:r>
              <a:rPr lang="en-US" sz="2000" i="1" dirty="0">
                <a:latin typeface="Times New Roman" pitchFamily="18" charset="0"/>
                <a:cs typeface="Times New Roman" pitchFamily="18" charset="0"/>
              </a:rPr>
              <a:t>IEEE Trans.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66, no. 6, pp. 3160-3165, Jun. 2018.</a:t>
            </a:r>
          </a:p>
          <a:p>
            <a:r>
              <a:rPr lang="en-US" sz="2000" dirty="0">
                <a:latin typeface="Times New Roman" pitchFamily="18" charset="0"/>
                <a:cs typeface="Times New Roman" pitchFamily="18" charset="0"/>
              </a:rPr>
              <a:t>X. Zhang, L. Zhu and Q.-S. Wu, " </a:t>
            </a:r>
            <a:r>
              <a:rPr lang="en-US" sz="2000" dirty="0" err="1">
                <a:latin typeface="Times New Roman" pitchFamily="18" charset="0"/>
                <a:cs typeface="Times New Roman" pitchFamily="18" charset="0"/>
              </a:rPr>
              <a:t>Sidelobe</a:t>
            </a:r>
            <a:r>
              <a:rPr lang="en-US" sz="2000" dirty="0">
                <a:latin typeface="Times New Roman" pitchFamily="18" charset="0"/>
                <a:cs typeface="Times New Roman" pitchFamily="18" charset="0"/>
              </a:rPr>
              <a:t>-reduced and gain-enhanced square patch antennas with adjustable </a:t>
            </a:r>
            <a:r>
              <a:rPr lang="en-US" sz="2000" dirty="0" err="1">
                <a:latin typeface="Times New Roman" pitchFamily="18" charset="0"/>
                <a:cs typeface="Times New Roman" pitchFamily="18" charset="0"/>
              </a:rPr>
              <a:t>beamwidth</a:t>
            </a:r>
            <a:r>
              <a:rPr lang="en-US" sz="2000" dirty="0">
                <a:latin typeface="Times New Roman" pitchFamily="18" charset="0"/>
                <a:cs typeface="Times New Roman" pitchFamily="18" charset="0"/>
              </a:rPr>
              <a:t> under TM 03 mode operation ", </a:t>
            </a:r>
            <a:r>
              <a:rPr lang="en-US" sz="2000" i="1" dirty="0">
                <a:latin typeface="Times New Roman" pitchFamily="18" charset="0"/>
                <a:cs typeface="Times New Roman" pitchFamily="18" charset="0"/>
              </a:rPr>
              <a:t>IEEE Trans.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66, no. 4, pp. 1704-1713, Apr. 2018.</a:t>
            </a:r>
          </a:p>
          <a:p>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Y. He, Y. Li, W. Sun and Z. Zhang, "Dual-polarized high-gain and low-profile magnetic current array antenna", </a:t>
            </a:r>
            <a:r>
              <a:rPr lang="en-US" sz="2000" i="1" dirty="0">
                <a:latin typeface="Times New Roman" pitchFamily="18" charset="0"/>
                <a:cs typeface="Times New Roman" pitchFamily="18" charset="0"/>
              </a:rPr>
              <a:t>IEEE Trans.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67, no. 2, pp. 1312-1317, Feb. 2019</a:t>
            </a:r>
          </a:p>
          <a:p>
            <a:endParaRPr lang="en-US"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28604"/>
            <a:ext cx="7467600" cy="6045348"/>
          </a:xfrm>
        </p:spPr>
        <p:txBody>
          <a:bodyPr>
            <a:normAutofit fontScale="92500" lnSpcReduction="10000"/>
          </a:bodyPr>
          <a:lstStyle/>
          <a:p>
            <a:pPr>
              <a:buNone/>
            </a:pPr>
            <a:endParaRPr lang="en-US" dirty="0"/>
          </a:p>
          <a:p>
            <a:r>
              <a:rPr lang="en-US" sz="2000" dirty="0">
                <a:latin typeface="Times New Roman" pitchFamily="18" charset="0"/>
                <a:cs typeface="Times New Roman" pitchFamily="18" charset="0"/>
              </a:rPr>
              <a:t>X. Zhang, K.-D. Hong, L. Zhu, X.-K. Bi and T. Yuan, "Wideband differentially fed patch antennas under dual high-order modes for stable high gain", </a:t>
            </a:r>
            <a:r>
              <a:rPr lang="en-US" sz="2000" i="1" dirty="0">
                <a:latin typeface="Times New Roman" pitchFamily="18" charset="0"/>
                <a:cs typeface="Times New Roman" pitchFamily="18" charset="0"/>
              </a:rPr>
              <a:t>IEEE Trans.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69, no. 1, pp. 508-513, Jan. 2021.</a:t>
            </a:r>
          </a:p>
          <a:p>
            <a:r>
              <a:rPr lang="en-US" sz="2000" dirty="0">
                <a:latin typeface="Times New Roman" pitchFamily="18" charset="0"/>
                <a:cs typeface="Times New Roman" pitchFamily="18" charset="0"/>
              </a:rPr>
              <a:t>N.-W. Liu, L. Zhu, W.-W. </a:t>
            </a:r>
            <a:r>
              <a:rPr lang="en-US" sz="2000" dirty="0" err="1">
                <a:latin typeface="Times New Roman" pitchFamily="18" charset="0"/>
                <a:cs typeface="Times New Roman" pitchFamily="18" charset="0"/>
              </a:rPr>
              <a:t>Choi</a:t>
            </a:r>
            <a:r>
              <a:rPr lang="en-US" sz="2000" dirty="0">
                <a:latin typeface="Times New Roman" pitchFamily="18" charset="0"/>
                <a:cs typeface="Times New Roman" pitchFamily="18" charset="0"/>
              </a:rPr>
              <a:t> and X. Zhang, " A low-profile differential-fed patch antenna with bandwidth enhancement and </a:t>
            </a:r>
            <a:r>
              <a:rPr lang="en-US" sz="2000" dirty="0" err="1">
                <a:latin typeface="Times New Roman" pitchFamily="18" charset="0"/>
                <a:cs typeface="Times New Roman" pitchFamily="18" charset="0"/>
              </a:rPr>
              <a:t>sidelobe</a:t>
            </a:r>
            <a:r>
              <a:rPr lang="en-US" sz="2000" dirty="0">
                <a:latin typeface="Times New Roman" pitchFamily="18" charset="0"/>
                <a:cs typeface="Times New Roman" pitchFamily="18" charset="0"/>
              </a:rPr>
              <a:t> reduction under operation of TM 10 and TM 12 modes ", </a:t>
            </a:r>
            <a:r>
              <a:rPr lang="en-US" sz="2000" i="1" dirty="0">
                <a:latin typeface="Times New Roman" pitchFamily="18" charset="0"/>
                <a:cs typeface="Times New Roman" pitchFamily="18" charset="0"/>
              </a:rPr>
              <a:t>IEEE Trans.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66, no. 9, pp. 4854-4859, Sep. 2018</a:t>
            </a:r>
          </a:p>
          <a:p>
            <a:r>
              <a:rPr lang="en-US" sz="2000" dirty="0">
                <a:latin typeface="Times New Roman" pitchFamily="18" charset="0"/>
                <a:cs typeface="Times New Roman" pitchFamily="18" charset="0"/>
              </a:rPr>
              <a:t>Z. Ahmed and M. M. Ahmed, " </a:t>
            </a:r>
            <a:r>
              <a:rPr lang="en-US" sz="2000" dirty="0" err="1">
                <a:latin typeface="Times New Roman" pitchFamily="18" charset="0"/>
                <a:cs typeface="Times New Roman" pitchFamily="18" charset="0"/>
              </a:rPr>
              <a:t>Sidelobe</a:t>
            </a:r>
            <a:r>
              <a:rPr lang="en-US" sz="2000" dirty="0">
                <a:latin typeface="Times New Roman" pitchFamily="18" charset="0"/>
                <a:cs typeface="Times New Roman" pitchFamily="18" charset="0"/>
              </a:rPr>
              <a:t> reduction and gain enhancement in higher order TM 30 and TM 70 mode rectangular patch antennas via partial notch loading ", </a:t>
            </a:r>
            <a:r>
              <a:rPr lang="en-US" sz="2000" i="1" dirty="0">
                <a:latin typeface="Times New Roman" pitchFamily="18" charset="0"/>
                <a:cs typeface="Times New Roman" pitchFamily="18" charset="0"/>
              </a:rPr>
              <a:t>IET </a:t>
            </a:r>
            <a:r>
              <a:rPr lang="en-US" sz="2000" i="1" dirty="0" err="1">
                <a:latin typeface="Times New Roman" pitchFamily="18" charset="0"/>
                <a:cs typeface="Times New Roman" pitchFamily="18" charset="0"/>
              </a:rPr>
              <a:t>Microw</a:t>
            </a:r>
            <a:r>
              <a:rPr lang="en-US" sz="2000" i="1" dirty="0">
                <a:latin typeface="Times New Roman" pitchFamily="18" charset="0"/>
                <a:cs typeface="Times New Roman" pitchFamily="18" charset="0"/>
              </a:rPr>
              <a:t>. Antennas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13, no. 12, pp. 1955-1962, Oct. 2019.</a:t>
            </a:r>
          </a:p>
          <a:p>
            <a:r>
              <a:rPr lang="en-US" sz="2000" dirty="0">
                <a:latin typeface="Times New Roman" pitchFamily="18" charset="0"/>
                <a:cs typeface="Times New Roman" pitchFamily="18" charset="0"/>
              </a:rPr>
              <a:t>J. </a:t>
            </a:r>
            <a:r>
              <a:rPr lang="en-US" sz="2000" dirty="0" err="1">
                <a:latin typeface="Times New Roman" pitchFamily="18" charset="0"/>
                <a:cs typeface="Times New Roman" pitchFamily="18" charset="0"/>
              </a:rPr>
              <a:t>Anguera</a:t>
            </a:r>
            <a:r>
              <a:rPr lang="en-US" sz="2000" dirty="0">
                <a:latin typeface="Times New Roman" pitchFamily="18" charset="0"/>
                <a:cs typeface="Times New Roman" pitchFamily="18" charset="0"/>
              </a:rPr>
              <a:t>, A. </a:t>
            </a:r>
            <a:r>
              <a:rPr lang="en-US" sz="2000" dirty="0" err="1">
                <a:latin typeface="Times New Roman" pitchFamily="18" charset="0"/>
                <a:cs typeface="Times New Roman" pitchFamily="18" charset="0"/>
              </a:rPr>
              <a:t>Andujar</a:t>
            </a:r>
            <a:r>
              <a:rPr lang="en-US" sz="2000" dirty="0">
                <a:latin typeface="Times New Roman" pitchFamily="18" charset="0"/>
                <a:cs typeface="Times New Roman" pitchFamily="18" charset="0"/>
              </a:rPr>
              <a:t> and J. </a:t>
            </a:r>
            <a:r>
              <a:rPr lang="en-US" sz="2000" dirty="0" err="1">
                <a:latin typeface="Times New Roman" pitchFamily="18" charset="0"/>
                <a:cs typeface="Times New Roman" pitchFamily="18" charset="0"/>
              </a:rPr>
              <a:t>Jayasinghe</a:t>
            </a:r>
            <a:r>
              <a:rPr lang="en-US" sz="2000" dirty="0">
                <a:latin typeface="Times New Roman" pitchFamily="18" charset="0"/>
                <a:cs typeface="Times New Roman" pitchFamily="18" charset="0"/>
              </a:rPr>
              <a:t>, " High-directivity </a:t>
            </a:r>
            <a:r>
              <a:rPr lang="en-US" sz="2000" dirty="0" err="1">
                <a:latin typeface="Times New Roman" pitchFamily="18" charset="0"/>
                <a:cs typeface="Times New Roman" pitchFamily="18" charset="0"/>
              </a:rPr>
              <a:t>microstrip</a:t>
            </a:r>
            <a:r>
              <a:rPr lang="en-US" sz="2000" dirty="0">
                <a:latin typeface="Times New Roman" pitchFamily="18" charset="0"/>
                <a:cs typeface="Times New Roman" pitchFamily="18" charset="0"/>
              </a:rPr>
              <a:t> patch antennas based on TM \$_{odd-0}\$ modes ", </a:t>
            </a:r>
            <a:r>
              <a:rPr lang="en-US" sz="2000" i="1" dirty="0">
                <a:latin typeface="Times New Roman" pitchFamily="18" charset="0"/>
                <a:cs typeface="Times New Roman" pitchFamily="18" charset="0"/>
              </a:rPr>
              <a:t>IEEE Antennas Wireless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Lett</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19, no. 1, pp. 39-43, Jan. 2020.</a:t>
            </a:r>
          </a:p>
          <a:p>
            <a:r>
              <a:rPr lang="en-US" sz="2000" dirty="0">
                <a:latin typeface="Times New Roman" pitchFamily="18" charset="0"/>
                <a:cs typeface="Times New Roman" pitchFamily="18" charset="0"/>
              </a:rPr>
              <a:t>A. Bhattacharyya, J. Pal, K. </a:t>
            </a:r>
            <a:r>
              <a:rPr lang="en-US" sz="2000" dirty="0" err="1">
                <a:latin typeface="Times New Roman" pitchFamily="18" charset="0"/>
                <a:cs typeface="Times New Roman" pitchFamily="18" charset="0"/>
              </a:rPr>
              <a:t>Patra</a:t>
            </a:r>
            <a:r>
              <a:rPr lang="en-US" sz="2000" dirty="0">
                <a:latin typeface="Times New Roman" pitchFamily="18" charset="0"/>
                <a:cs typeface="Times New Roman" pitchFamily="18" charset="0"/>
              </a:rPr>
              <a:t> and B. Gupta, "Bandwidth-enhanced miniaturized patch antenna operating at higher order dual-mode resonance using modal analysis", </a:t>
            </a:r>
            <a:r>
              <a:rPr lang="en-US" sz="2000" i="1" dirty="0">
                <a:latin typeface="Times New Roman" pitchFamily="18" charset="0"/>
                <a:cs typeface="Times New Roman" pitchFamily="18" charset="0"/>
              </a:rPr>
              <a:t>IEEE Antennas Wireless </a:t>
            </a:r>
            <a:r>
              <a:rPr lang="en-US" sz="2000" i="1" dirty="0" err="1">
                <a:latin typeface="Times New Roman" pitchFamily="18" charset="0"/>
                <a:cs typeface="Times New Roman" pitchFamily="18" charset="0"/>
              </a:rPr>
              <a:t>Propag</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Lett</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vol. 20, no. 2, pp. 274-278, Feb. 2021</a:t>
            </a:r>
            <a:endParaRPr lang="en-US" sz="2000" b="1" dirty="0">
              <a:latin typeface="Times New Roman" pitchFamily="18" charset="0"/>
              <a:cs typeface="Times New Roman" pitchFamily="18" charset="0"/>
            </a:endParaRPr>
          </a:p>
          <a:p>
            <a:pPr>
              <a:buNone/>
            </a:pPr>
            <a:endParaRPr lang="en-US" dirty="0"/>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IN" dirty="0"/>
          </a:p>
          <a:p>
            <a:pPr>
              <a:buNone/>
            </a:pPr>
            <a:endParaRPr lang="en-IN" dirty="0"/>
          </a:p>
          <a:p>
            <a:endParaRPr lang="en-IN" dirty="0"/>
          </a:p>
          <a:p>
            <a:pPr>
              <a:buNone/>
            </a:pPr>
            <a:r>
              <a:rPr lang="en-IN" sz="4000" dirty="0">
                <a:latin typeface="Times New Roman" pitchFamily="18" charset="0"/>
                <a:cs typeface="Times New Roman" pitchFamily="18" charset="0"/>
              </a:rPr>
              <a:t>                THANK YOU</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1008</TotalTime>
  <Words>667</Words>
  <Application>Microsoft Office PowerPoint</Application>
  <PresentationFormat>On-screen Show (4:3)</PresentationFormat>
  <Paragraphs>148</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Oriel</vt:lpstr>
      <vt:lpstr>IMPROVING  THE  RETURN LOSS OF  THE ANTENNA  VIA  FRACTAL SLOT</vt:lpstr>
      <vt:lpstr>   OBJECTIVE</vt:lpstr>
      <vt:lpstr>Slide 3</vt:lpstr>
      <vt:lpstr>Slide 4</vt:lpstr>
      <vt:lpstr>Slide 5</vt:lpstr>
      <vt:lpstr>Slide 6</vt:lpstr>
      <vt:lpstr>Slide 7</vt:lpstr>
      <vt:lpstr>Slide 8</vt:lpstr>
      <vt:lpstr>DESIGN &amp;CONFIGURATION OF PROPOSED ANTENNA</vt:lpstr>
      <vt:lpstr>Slide 10</vt:lpstr>
      <vt:lpstr>PROGRESS:</vt:lpstr>
      <vt:lpstr>Slide 12</vt:lpstr>
      <vt:lpstr>CREATION OF THE FRACTAL SLOT</vt:lpstr>
      <vt:lpstr>Slide 14</vt:lpstr>
      <vt:lpstr>PATCH WITH FRACTAL SLOT</vt:lpstr>
      <vt:lpstr>PROVIDING DIFFERENTIAL FEED</vt:lpstr>
      <vt:lpstr>VALIDATION CHECK</vt:lpstr>
      <vt:lpstr>Return loss is found to be -16.22 at the frequency of 2.02GHz</vt:lpstr>
      <vt:lpstr>VSWR</vt:lpstr>
      <vt:lpstr>GAIN</vt:lpstr>
      <vt:lpstr> RADIATION PATTERN</vt:lpstr>
      <vt:lpstr>CONCLUSION</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THE SIDELOBE LEVEL VIA NOTCH LOADED  TM30 MODE PATCH VIA FRACTAL SLOT</dc:title>
  <dc:creator>ELCOT</dc:creator>
  <cp:lastModifiedBy>ELCOT</cp:lastModifiedBy>
  <cp:revision>70</cp:revision>
  <dcterms:created xsi:type="dcterms:W3CDTF">2023-08-27T18:17:30Z</dcterms:created>
  <dcterms:modified xsi:type="dcterms:W3CDTF">2023-10-31T04:46:17Z</dcterms:modified>
</cp:coreProperties>
</file>